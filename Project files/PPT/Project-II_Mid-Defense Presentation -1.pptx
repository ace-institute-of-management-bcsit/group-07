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96" r:id="rId1"/>
  </p:sldMasterIdLst>
  <p:notesMasterIdLst>
    <p:notesMasterId r:id="rId13"/>
  </p:notesMasterIdLst>
  <p:sldIdLst>
    <p:sldId id="262" r:id="rId2"/>
    <p:sldId id="274" r:id="rId3"/>
    <p:sldId id="287" r:id="rId4"/>
    <p:sldId id="282" r:id="rId5"/>
    <p:sldId id="291" r:id="rId6"/>
    <p:sldId id="278" r:id="rId7"/>
    <p:sldId id="275" r:id="rId8"/>
    <p:sldId id="276" r:id="rId9"/>
    <p:sldId id="288" r:id="rId10"/>
    <p:sldId id="286" r:id="rId11"/>
    <p:sldId id="266" r:id="rId12"/>
  </p:sldIdLst>
  <p:sldSz cx="12192000" cy="6858000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CC"/>
    <a:srgbClr val="2E3090"/>
    <a:srgbClr val="000099"/>
    <a:srgbClr val="2E2F98"/>
    <a:srgbClr val="C0D82C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428" autoAdjust="0"/>
    <p:restoredTop sz="94660"/>
  </p:normalViewPr>
  <p:slideViewPr>
    <p:cSldViewPr snapToGrid="0">
      <p:cViewPr varScale="1">
        <p:scale>
          <a:sx n="76" d="100"/>
          <a:sy n="76" d="100"/>
        </p:scale>
        <p:origin x="88" y="6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668DC72-0701-4922-B9D1-CBFB540736DA}" type="datetimeFigureOut">
              <a:rPr lang="en-IN" smtClean="0"/>
              <a:t>29-06-2026</a:t>
            </a:fld>
            <a:endParaRPr lang="en-IN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C433DB3-0243-45D5-87FD-27D2F51D2003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693645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1" y="0"/>
            <a:ext cx="12203372" cy="736270"/>
          </a:xfrm>
          <a:prstGeom prst="rect">
            <a:avLst/>
          </a:prstGeom>
          <a:gradFill>
            <a:gsLst>
              <a:gs pos="0">
                <a:srgbClr val="C0D82C"/>
              </a:gs>
              <a:gs pos="54000">
                <a:srgbClr val="00B0F0"/>
              </a:gs>
              <a:gs pos="100000">
                <a:schemeClr val="tx2">
                  <a:lumMod val="75000"/>
                </a:schemeClr>
              </a:gs>
              <a:gs pos="100000">
                <a:srgbClr val="2E2F98"/>
              </a:gs>
            </a:gsLst>
            <a:path path="circle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>
                <a:solidFill>
                  <a:prstClr val="white"/>
                </a:solidFill>
                <a:latin typeface="Franklin Gothic Demi" pitchFamily="34" charset="0"/>
              </a:rPr>
              <a:t>ACE INSTITUTE OF MANAEGMENT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B81D8F32-4B7E-234D-7608-8305F6F3046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71464" y="26634"/>
            <a:ext cx="1734705" cy="6642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78141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 userDrawn="1"/>
        </p:nvCxnSpPr>
        <p:spPr>
          <a:xfrm>
            <a:off x="0" y="1102360"/>
            <a:ext cx="12192000" cy="0"/>
          </a:xfrm>
          <a:prstGeom prst="line">
            <a:avLst/>
          </a:prstGeom>
          <a:ln w="508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 userDrawn="1"/>
        </p:nvCxnSpPr>
        <p:spPr>
          <a:xfrm>
            <a:off x="0" y="6806436"/>
            <a:ext cx="12192000" cy="0"/>
          </a:xfrm>
          <a:prstGeom prst="line">
            <a:avLst/>
          </a:prstGeom>
          <a:ln w="2222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Slide Number Placeholder 5"/>
          <p:cNvSpPr txBox="1">
            <a:spLocks/>
          </p:cNvSpPr>
          <p:nvPr userDrawn="1"/>
        </p:nvSpPr>
        <p:spPr>
          <a:xfrm>
            <a:off x="11176001" y="6607628"/>
            <a:ext cx="1016000" cy="198808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bg1"/>
                </a:solidFill>
                <a:latin typeface="Calibri" pitchFamily="34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9pPr>
          </a:lstStyle>
          <a:p>
            <a:pPr algn="r">
              <a:defRPr/>
            </a:pPr>
            <a:fld id="{0FF7DBA9-935E-47CE-962B-4680C9109015}" type="slidenum">
              <a:rPr lang="en-US" altLang="en-US" sz="1400" smtClean="0"/>
              <a:pPr algn="r">
                <a:defRPr/>
              </a:pPr>
              <a:t>‹#›</a:t>
            </a:fld>
            <a:endParaRPr lang="en-US" altLang="en-US" sz="1400" dirty="0"/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240872" y="202991"/>
            <a:ext cx="9389440" cy="554587"/>
          </a:xfrm>
        </p:spPr>
        <p:txBody>
          <a:bodyPr/>
          <a:lstStyle>
            <a:lvl1pPr algn="l">
              <a:defRPr sz="3200" b="1"/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12" name="Content Placeholder 3"/>
          <p:cNvSpPr>
            <a:spLocks noGrp="1"/>
          </p:cNvSpPr>
          <p:nvPr>
            <p:ph sz="half" idx="2"/>
          </p:nvPr>
        </p:nvSpPr>
        <p:spPr>
          <a:xfrm>
            <a:off x="250576" y="1231143"/>
            <a:ext cx="11690849" cy="5223272"/>
          </a:xfrm>
        </p:spPr>
        <p:txBody>
          <a:bodyPr/>
          <a:lstStyle>
            <a:lvl1pPr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A0C322A-68A0-418E-1745-0B1A6D79368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71464" y="26634"/>
            <a:ext cx="1734705" cy="6642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86568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/>
          <p:cNvPicPr>
            <a:picLocks noChangeAspect="1"/>
          </p:cNvPicPr>
          <p:nvPr userDrawn="1"/>
        </p:nvPicPr>
        <p:blipFill>
          <a:blip r:embed="rId2">
            <a:lum bright="3000"/>
          </a:blip>
          <a:stretch>
            <a:fillRect/>
          </a:stretch>
        </p:blipFill>
        <p:spPr>
          <a:xfrm>
            <a:off x="2497430" y="2118212"/>
            <a:ext cx="7095541" cy="351057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0872" y="202991"/>
            <a:ext cx="9389440" cy="554587"/>
          </a:xfrm>
        </p:spPr>
        <p:txBody>
          <a:bodyPr/>
          <a:lstStyle>
            <a:lvl1pPr algn="l">
              <a:defRPr sz="3200" b="1"/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40872" y="1132413"/>
            <a:ext cx="5718139" cy="48063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40872" y="1613044"/>
            <a:ext cx="5718139" cy="478421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125167"/>
            <a:ext cx="5656161" cy="48787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1613044"/>
            <a:ext cx="5656161" cy="478421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cxnSp>
        <p:nvCxnSpPr>
          <p:cNvPr id="11" name="Straight Connector 10"/>
          <p:cNvCxnSpPr/>
          <p:nvPr userDrawn="1"/>
        </p:nvCxnSpPr>
        <p:spPr>
          <a:xfrm>
            <a:off x="0" y="1102360"/>
            <a:ext cx="12192000" cy="0"/>
          </a:xfrm>
          <a:prstGeom prst="line">
            <a:avLst/>
          </a:prstGeom>
          <a:ln w="508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 userDrawn="1"/>
        </p:nvCxnSpPr>
        <p:spPr>
          <a:xfrm>
            <a:off x="0" y="6756400"/>
            <a:ext cx="12192000" cy="0"/>
          </a:xfrm>
          <a:prstGeom prst="line">
            <a:avLst/>
          </a:prstGeom>
          <a:ln w="2222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Slide Number Placeholder 5"/>
          <p:cNvSpPr txBox="1">
            <a:spLocks/>
          </p:cNvSpPr>
          <p:nvPr userDrawn="1"/>
        </p:nvSpPr>
        <p:spPr>
          <a:xfrm>
            <a:off x="11176001" y="6607628"/>
            <a:ext cx="1016000" cy="198808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bg1"/>
                </a:solidFill>
                <a:latin typeface="Calibri" pitchFamily="34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9pPr>
          </a:lstStyle>
          <a:p>
            <a:pPr algn="r">
              <a:defRPr/>
            </a:pPr>
            <a:fld id="{0FF7DBA9-935E-47CE-962B-4680C9109015}" type="slidenum">
              <a:rPr lang="en-US" altLang="en-US" sz="1400" smtClean="0"/>
              <a:pPr algn="r">
                <a:defRPr/>
              </a:pPr>
              <a:t>‹#›</a:t>
            </a:fld>
            <a:endParaRPr lang="en-US" altLang="en-US" sz="14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4838245-5B6D-3C7C-1921-BCC6F0F5C5B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71464" y="26634"/>
            <a:ext cx="1734705" cy="6642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89229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 userDrawn="1"/>
        </p:nvCxnSpPr>
        <p:spPr>
          <a:xfrm>
            <a:off x="0" y="1102360"/>
            <a:ext cx="12192000" cy="0"/>
          </a:xfrm>
          <a:prstGeom prst="line">
            <a:avLst/>
          </a:prstGeom>
          <a:ln w="508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 userDrawn="1"/>
        </p:nvCxnSpPr>
        <p:spPr>
          <a:xfrm>
            <a:off x="0" y="6756400"/>
            <a:ext cx="12192000" cy="0"/>
          </a:xfrm>
          <a:prstGeom prst="line">
            <a:avLst/>
          </a:prstGeom>
          <a:ln w="2222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Slide Number Placeholder 5"/>
          <p:cNvSpPr txBox="1">
            <a:spLocks/>
          </p:cNvSpPr>
          <p:nvPr userDrawn="1"/>
        </p:nvSpPr>
        <p:spPr>
          <a:xfrm>
            <a:off x="11176001" y="6607628"/>
            <a:ext cx="1016000" cy="198808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bg1"/>
                </a:solidFill>
                <a:latin typeface="Calibri" pitchFamily="34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9pPr>
          </a:lstStyle>
          <a:p>
            <a:pPr algn="r">
              <a:defRPr/>
            </a:pPr>
            <a:fld id="{0FF7DBA9-935E-47CE-962B-4680C9109015}" type="slidenum">
              <a:rPr lang="en-US" altLang="en-US" sz="1400" smtClean="0"/>
              <a:pPr algn="r">
                <a:defRPr/>
              </a:pPr>
              <a:t>‹#›</a:t>
            </a:fld>
            <a:endParaRPr lang="en-US" altLang="en-US" sz="14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382D1C4-7436-F71F-5CC8-167D381D6DC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71464" y="26634"/>
            <a:ext cx="1734705" cy="6642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7514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s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lide Number Placeholder 5"/>
          <p:cNvSpPr txBox="1">
            <a:spLocks/>
          </p:cNvSpPr>
          <p:nvPr userDrawn="1"/>
        </p:nvSpPr>
        <p:spPr>
          <a:xfrm>
            <a:off x="11176001" y="6607628"/>
            <a:ext cx="1016000" cy="198808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bg1"/>
                </a:solidFill>
                <a:latin typeface="Calibri" pitchFamily="34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9pPr>
          </a:lstStyle>
          <a:p>
            <a:pPr algn="r">
              <a:defRPr/>
            </a:pPr>
            <a:fld id="{0FF7DBA9-935E-47CE-962B-4680C9109015}" type="slidenum">
              <a:rPr lang="en-US" altLang="en-US" sz="1400" smtClean="0"/>
              <a:pPr algn="r">
                <a:defRPr/>
              </a:pPr>
              <a:t>‹#›</a:t>
            </a:fld>
            <a:endParaRPr lang="en-US" altLang="en-US" sz="1400" dirty="0"/>
          </a:p>
        </p:txBody>
      </p:sp>
      <p:sp>
        <p:nvSpPr>
          <p:cNvPr id="11" name="Title 1"/>
          <p:cNvSpPr>
            <a:spLocks noGrp="1"/>
          </p:cNvSpPr>
          <p:nvPr>
            <p:ph type="title" hasCustomPrompt="1"/>
          </p:nvPr>
        </p:nvSpPr>
        <p:spPr>
          <a:xfrm>
            <a:off x="4485218" y="2971801"/>
            <a:ext cx="3270249" cy="711200"/>
          </a:xfrm>
        </p:spPr>
        <p:txBody>
          <a:bodyPr anchor="t"/>
          <a:lstStyle>
            <a:lvl1pPr algn="ctr">
              <a:defRPr sz="3600" b="1" cap="none"/>
            </a:lvl1pPr>
          </a:lstStyle>
          <a:p>
            <a:r>
              <a:rPr lang="en-US" dirty="0"/>
              <a:t>Thanks…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090766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  <a:endParaRPr lang="en-IN" altLang="en-US"/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  <a:endParaRPr lang="en-I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0" hangingPunct="0">
              <a:defRPr sz="1200">
                <a:solidFill>
                  <a:schemeClr val="tx1">
                    <a:tint val="75000"/>
                  </a:schemeClr>
                </a:solidFill>
                <a:cs typeface="+mn-cs"/>
              </a:defRPr>
            </a:lvl1pPr>
          </a:lstStyle>
          <a:p>
            <a:pPr>
              <a:defRPr/>
            </a:pPr>
            <a:fld id="{247F8E96-40AA-459E-91AA-55A5F97CAAA0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t>6/29/2026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0" hangingPunct="0">
              <a:defRPr sz="1200">
                <a:solidFill>
                  <a:schemeClr val="tx1">
                    <a:tint val="75000"/>
                  </a:schemeClr>
                </a:solidFill>
                <a:cs typeface="+mn-cs"/>
              </a:defRPr>
            </a:lvl1pPr>
          </a:lstStyle>
          <a:p>
            <a:pPr>
              <a:defRPr/>
            </a:pP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0" hangingPunct="0">
              <a:defRPr sz="1200">
                <a:solidFill>
                  <a:schemeClr val="tx1">
                    <a:tint val="75000"/>
                  </a:schemeClr>
                </a:solidFill>
                <a:cs typeface="+mn-cs"/>
              </a:defRPr>
            </a:lvl1pPr>
          </a:lstStyle>
          <a:p>
            <a:pPr>
              <a:defRPr/>
            </a:pPr>
            <a:fld id="{D4CB9294-F9FF-4346-BE48-1C04129C722B}" type="slidenum">
              <a:rPr lang="en-US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861629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701" r:id="rId3"/>
    <p:sldLayoutId id="2147483703" r:id="rId4"/>
    <p:sldLayoutId id="2147483708" r:id="rId5"/>
  </p:sldLayoutIdLst>
  <p:hf hdr="0" ft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 idx="4294967295"/>
          </p:nvPr>
        </p:nvSpPr>
        <p:spPr>
          <a:xfrm>
            <a:off x="2472417" y="1344837"/>
            <a:ext cx="7247166" cy="499336"/>
          </a:xfrm>
        </p:spPr>
        <p:txBody>
          <a:bodyPr/>
          <a:lstStyle>
            <a:lvl1pPr algn="ctr">
              <a:defRPr sz="2800" b="1">
                <a:latin typeface="+mn-lt"/>
              </a:defRPr>
            </a:lvl1pPr>
          </a:lstStyle>
          <a:p>
            <a:r>
              <a:rPr lang="en-US" sz="4800" dirty="0">
                <a:latin typeface="Arial" panose="020B0604020202020204" pitchFamily="34" charset="0"/>
                <a:cs typeface="Arial" panose="020B0604020202020204" pitchFamily="34" charset="0"/>
              </a:rPr>
              <a:t>Project: Blood Donation Finder</a:t>
            </a:r>
            <a:endParaRPr lang="en-IN" sz="4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 Placeholder 2"/>
          <p:cNvSpPr>
            <a:spLocks noGrp="1"/>
          </p:cNvSpPr>
          <p:nvPr>
            <p:ph type="body" idx="4294967295"/>
          </p:nvPr>
        </p:nvSpPr>
        <p:spPr>
          <a:xfrm>
            <a:off x="2593520" y="4281635"/>
            <a:ext cx="7247166" cy="423370"/>
          </a:xfrm>
        </p:spPr>
        <p:txBody>
          <a:bodyPr anchor="b"/>
          <a:lstStyle>
            <a:lvl1pPr marL="0" indent="0" algn="ctr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Aryan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Mainalee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Deepesh Bastola</a:t>
            </a:r>
          </a:p>
          <a:p>
            <a:pPr lvl="0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Sulav Tiwari</a:t>
            </a:r>
          </a:p>
        </p:txBody>
      </p:sp>
      <p:sp>
        <p:nvSpPr>
          <p:cNvPr id="14" name="Text Placeholder 2"/>
          <p:cNvSpPr>
            <a:spLocks noGrp="1"/>
          </p:cNvSpPr>
          <p:nvPr>
            <p:ph type="body" idx="4294967295"/>
          </p:nvPr>
        </p:nvSpPr>
        <p:spPr>
          <a:xfrm>
            <a:off x="2754885" y="6009638"/>
            <a:ext cx="7247166" cy="423370"/>
          </a:xfrm>
        </p:spPr>
        <p:txBody>
          <a:bodyPr anchor="b"/>
          <a:lstStyle>
            <a:lvl1pPr marL="0" indent="0" algn="ctr">
              <a:buNone/>
              <a:defRPr sz="18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Under Supervision of</a:t>
            </a:r>
          </a:p>
          <a:p>
            <a:pPr lvl="0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Sanju Shrestha  </a:t>
            </a:r>
          </a:p>
        </p:txBody>
      </p:sp>
      <p:sp>
        <p:nvSpPr>
          <p:cNvPr id="15" name="Text Placeholder 2"/>
          <p:cNvSpPr>
            <a:spLocks noGrp="1"/>
          </p:cNvSpPr>
          <p:nvPr>
            <p:ph type="body" idx="4294967295"/>
          </p:nvPr>
        </p:nvSpPr>
        <p:spPr>
          <a:xfrm>
            <a:off x="2472417" y="2977002"/>
            <a:ext cx="7247166" cy="423370"/>
          </a:xfrm>
        </p:spPr>
        <p:txBody>
          <a:bodyPr anchor="b"/>
          <a:lstStyle>
            <a:lvl1pPr marL="0" indent="0" algn="ctr">
              <a:buNone/>
              <a:defRPr sz="2000" b="1" i="1">
                <a:solidFill>
                  <a:srgbClr val="000099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z="2800" dirty="0">
                <a:solidFill>
                  <a:srgbClr val="2E309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By  Group 7</a:t>
            </a:r>
          </a:p>
        </p:txBody>
      </p:sp>
    </p:spTree>
    <p:extLst>
      <p:ext uri="{BB962C8B-B14F-4D97-AF65-F5344CB8AC3E}">
        <p14:creationId xmlns:p14="http://schemas.microsoft.com/office/powerpoint/2010/main" val="2026772072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E7919F-3856-4904-ABEC-454630BA35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>
                <a:solidFill>
                  <a:srgbClr val="0070C0"/>
                </a:solidFill>
              </a:rPr>
              <a:t>Table of Contents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65CAD1-5EE3-4559-A084-AF36077082A2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Project Recap</a:t>
            </a:r>
          </a:p>
          <a:p>
            <a:r>
              <a:rPr lang="en-US" dirty="0"/>
              <a:t>System Architecture and Tech Stack</a:t>
            </a:r>
          </a:p>
          <a:p>
            <a:r>
              <a:rPr lang="en-US" dirty="0"/>
              <a:t>What We Have Built So Far </a:t>
            </a:r>
          </a:p>
          <a:p>
            <a:r>
              <a:rPr lang="en-US" dirty="0"/>
              <a:t>Testing Results</a:t>
            </a:r>
          </a:p>
          <a:p>
            <a:r>
              <a:rPr lang="en-US" dirty="0"/>
              <a:t>Challenges Faced</a:t>
            </a:r>
          </a:p>
          <a:p>
            <a:r>
              <a:rPr lang="en-US" dirty="0"/>
              <a:t>Upcoming Features</a:t>
            </a:r>
          </a:p>
          <a:p>
            <a:r>
              <a:rPr lang="en-US" dirty="0"/>
              <a:t>Conclusion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63249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299131-13C1-469D-8A54-7CD22DE484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>
                <a:solidFill>
                  <a:srgbClr val="0070C0"/>
                </a:solidFill>
              </a:rPr>
              <a:t>Project Recap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2B1CBC-709E-4606-A142-EAB7ECD58B9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21741" y="1476324"/>
            <a:ext cx="5262455" cy="4983928"/>
          </a:xfrm>
          <a:solidFill>
            <a:schemeClr val="accent5">
              <a:lumMod val="40000"/>
              <a:lumOff val="60000"/>
            </a:schemeClr>
          </a:solidFill>
        </p:spPr>
        <p:txBody>
          <a:bodyPr/>
          <a:lstStyle/>
          <a:p>
            <a:pPr marL="0" indent="0" algn="ctr">
              <a:buNone/>
            </a:pPr>
            <a:r>
              <a:rPr lang="en-US" b="1" dirty="0">
                <a:solidFill>
                  <a:srgbClr val="7030A0"/>
                </a:solidFill>
              </a:rPr>
              <a:t>The Problem</a:t>
            </a:r>
          </a:p>
          <a:p>
            <a:pPr marL="0" indent="0">
              <a:buNone/>
            </a:pPr>
            <a:endParaRPr lang="en-US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0" i="0" dirty="0">
                <a:effectLst/>
              </a:rPr>
              <a:t>No centralized blood donor platform in Nepal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0" i="0" dirty="0">
                <a:effectLst/>
              </a:rPr>
              <a:t>Patients rely on phone calls &amp; social media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0" i="0" dirty="0">
                <a:effectLst/>
              </a:rPr>
              <a:t>Delays in finding compatible donors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0" i="0" dirty="0">
                <a:effectLst/>
              </a:rPr>
              <a:t>Outdated donor records &amp; rare blood groups hard to locate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0" i="0" dirty="0">
                <a:effectLst/>
              </a:rPr>
              <a:t>Manual processes slow emergency response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E3AEB74C-68BB-41B1-8E28-F89B0E1FF446}"/>
              </a:ext>
            </a:extLst>
          </p:cNvPr>
          <p:cNvSpPr txBox="1">
            <a:spLocks/>
          </p:cNvSpPr>
          <p:nvPr/>
        </p:nvSpPr>
        <p:spPr bwMode="auto">
          <a:xfrm>
            <a:off x="6235830" y="1476324"/>
            <a:ext cx="5534429" cy="4983928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charset="0"/>
              <a:buNone/>
            </a:pPr>
            <a:r>
              <a:rPr lang="en-US" b="1" dirty="0">
                <a:solidFill>
                  <a:srgbClr val="7030A0"/>
                </a:solidFill>
              </a:rPr>
              <a:t>Our Objectives</a:t>
            </a:r>
          </a:p>
          <a:p>
            <a:pPr marL="0" indent="0">
              <a:buNone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Donor registration &amp; profile management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Online blood request posting by recipients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Automated matching by blood type &amp; location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Real-time notifications to compatible donors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In-app chat between donor &amp; recipient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Secure authentication &amp; donor history tracking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 marL="0" indent="0">
              <a:buFont typeface="Arial" charset="0"/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46158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DBA902-9FD0-44E8-8207-DD95117C75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>
                <a:solidFill>
                  <a:srgbClr val="0070C0"/>
                </a:solidFill>
              </a:rPr>
              <a:t>SYSTEM ARCHITECTURE &amp; TECH STACK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658EC3-2BD0-40DD-A9C7-BE8C04F9800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99005" y="3147783"/>
            <a:ext cx="5403936" cy="2947256"/>
          </a:xfrm>
        </p:spPr>
        <p:txBody>
          <a:bodyPr/>
          <a:lstStyle/>
          <a:p>
            <a:pPr marL="0" indent="0" algn="ctr">
              <a:buNone/>
            </a:pPr>
            <a:r>
              <a:rPr lang="en-US" b="1" dirty="0">
                <a:solidFill>
                  <a:srgbClr val="7030A0"/>
                </a:solidFill>
              </a:rPr>
              <a:t>Frontend: HTML, CSS, JavaScript</a:t>
            </a:r>
            <a:endParaRPr lang="en-US" b="1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/>
              <a:t>Responsive UI: Home, Dashboard, Blood Request Page, Donor List, Chat, Admin Panel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b="1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09DD74A-9996-4C34-B44A-CF06BD495F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4156" y="1487292"/>
            <a:ext cx="2773633" cy="1660490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DB5F1DBA-80D7-4FE0-86A9-09EDDDB048E0}"/>
              </a:ext>
            </a:extLst>
          </p:cNvPr>
          <p:cNvSpPr/>
          <p:nvPr/>
        </p:nvSpPr>
        <p:spPr>
          <a:xfrm>
            <a:off x="5982098" y="1309564"/>
            <a:ext cx="45719" cy="50825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09791122-8429-4988-A321-1FE719638D2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60133" y="1715693"/>
            <a:ext cx="3312410" cy="1557595"/>
          </a:xfrm>
          <a:prstGeom prst="rect">
            <a:avLst/>
          </a:prstGeom>
        </p:spPr>
      </p:pic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C885CC26-15EB-40BE-8DDA-348A895AA7BF}"/>
              </a:ext>
            </a:extLst>
          </p:cNvPr>
          <p:cNvSpPr txBox="1">
            <a:spLocks/>
          </p:cNvSpPr>
          <p:nvPr/>
        </p:nvSpPr>
        <p:spPr bwMode="auto">
          <a:xfrm>
            <a:off x="6501193" y="3147782"/>
            <a:ext cx="5403936" cy="29472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charset="0"/>
              <a:buNone/>
            </a:pPr>
            <a:r>
              <a:rPr lang="en-US" b="1" dirty="0">
                <a:solidFill>
                  <a:srgbClr val="7030A0"/>
                </a:solidFill>
              </a:rPr>
              <a:t>Backend: Node.js, Express.js, JWT</a:t>
            </a:r>
            <a:endParaRPr lang="en-US" b="1" dirty="0"/>
          </a:p>
          <a:p>
            <a:pPr marL="0" indent="0">
              <a:buFont typeface="Arial" charset="0"/>
              <a:buNone/>
            </a:pPr>
            <a:endParaRPr lang="en-US" sz="2000" dirty="0"/>
          </a:p>
          <a:p>
            <a:pPr marL="0" indent="0">
              <a:buFont typeface="Arial" charset="0"/>
              <a:buNone/>
            </a:pPr>
            <a:endParaRPr lang="en-US" sz="2000" dirty="0"/>
          </a:p>
          <a:p>
            <a:pPr marL="0" indent="0">
              <a:buFont typeface="Arial" charset="0"/>
              <a:buNone/>
            </a:pPr>
            <a:endParaRPr lang="en-US" sz="2000" dirty="0"/>
          </a:p>
          <a:p>
            <a:pPr marL="0" indent="0">
              <a:buFont typeface="Arial" charset="0"/>
              <a:buNone/>
            </a:pPr>
            <a:r>
              <a:rPr lang="en-US" sz="2000" dirty="0"/>
              <a:t>Business logic, API routing, secure authentication &amp; session management</a:t>
            </a:r>
          </a:p>
          <a:p>
            <a:pPr marL="0" indent="0">
              <a:buFont typeface="Arial" charset="0"/>
              <a:buNone/>
            </a:pPr>
            <a:endParaRPr lang="en-US" dirty="0"/>
          </a:p>
          <a:p>
            <a:pPr marL="0" indent="0">
              <a:buFont typeface="Arial" charset="0"/>
              <a:buNone/>
            </a:pP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5871039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4A8F9080-3FC3-4107-8A30-586214D0DC4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97679" y="1246094"/>
            <a:ext cx="2102962" cy="218290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8DBA902-9FD0-44E8-8207-DD95117C75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>
                <a:solidFill>
                  <a:srgbClr val="0070C0"/>
                </a:solidFill>
              </a:rPr>
              <a:t>SYSTEM ARCHITECTURE &amp; TECH STACK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658EC3-2BD0-40DD-A9C7-BE8C04F9800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40872" y="3142647"/>
            <a:ext cx="5403936" cy="3287704"/>
          </a:xfrm>
        </p:spPr>
        <p:txBody>
          <a:bodyPr/>
          <a:lstStyle/>
          <a:p>
            <a:pPr marL="0" indent="0" algn="ctr">
              <a:buNone/>
            </a:pPr>
            <a:r>
              <a:rPr lang="en-US" b="1" dirty="0">
                <a:solidFill>
                  <a:srgbClr val="7030A0"/>
                </a:solidFill>
              </a:rPr>
              <a:t>Real-Time Layer: Socket.io</a:t>
            </a:r>
            <a:endParaRPr lang="en-US" b="1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/>
              <a:t>Bidirectional communication for in-app chat and instant donor notifications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b="1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B5F1DBA-80D7-4FE0-86A9-09EDDDB048E0}"/>
              </a:ext>
            </a:extLst>
          </p:cNvPr>
          <p:cNvSpPr/>
          <p:nvPr/>
        </p:nvSpPr>
        <p:spPr>
          <a:xfrm>
            <a:off x="5982098" y="1309564"/>
            <a:ext cx="45719" cy="50825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C885CC26-15EB-40BE-8DDA-348A895AA7BF}"/>
              </a:ext>
            </a:extLst>
          </p:cNvPr>
          <p:cNvSpPr txBox="1">
            <a:spLocks/>
          </p:cNvSpPr>
          <p:nvPr/>
        </p:nvSpPr>
        <p:spPr bwMode="auto">
          <a:xfrm>
            <a:off x="6547192" y="3137701"/>
            <a:ext cx="5403936" cy="32882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charset="0"/>
              <a:buNone/>
            </a:pPr>
            <a:r>
              <a:rPr lang="en-US" b="1" dirty="0">
                <a:solidFill>
                  <a:srgbClr val="7030A0"/>
                </a:solidFill>
              </a:rPr>
              <a:t>Database  Layer: MySQL</a:t>
            </a:r>
            <a:endParaRPr lang="en-US" b="1" dirty="0"/>
          </a:p>
          <a:p>
            <a:pPr marL="0" indent="0">
              <a:buFont typeface="Arial" charset="0"/>
              <a:buNone/>
            </a:pPr>
            <a:endParaRPr lang="en-US" sz="2000" dirty="0"/>
          </a:p>
          <a:p>
            <a:pPr marL="0" indent="0">
              <a:buFont typeface="Arial" charset="0"/>
              <a:buNone/>
            </a:pPr>
            <a:endParaRPr lang="en-US" sz="2000" dirty="0"/>
          </a:p>
          <a:p>
            <a:pPr marL="0" indent="0">
              <a:buFont typeface="Arial" charset="0"/>
              <a:buNone/>
            </a:pPr>
            <a:endParaRPr lang="en-US" sz="2000" dirty="0"/>
          </a:p>
          <a:p>
            <a:pPr marL="0" indent="0">
              <a:buFont typeface="Arial" charset="0"/>
              <a:buNone/>
            </a:pPr>
            <a:r>
              <a:rPr lang="en-US" sz="2000" dirty="0"/>
              <a:t>Users, Donors, Blood Requests, Notifications, Chat, Donation History tables</a:t>
            </a:r>
          </a:p>
          <a:p>
            <a:pPr marL="0" indent="0">
              <a:buFont typeface="Arial" charset="0"/>
              <a:buNone/>
            </a:pPr>
            <a:endParaRPr lang="en-US" dirty="0"/>
          </a:p>
          <a:p>
            <a:pPr marL="0" indent="0">
              <a:buFont typeface="Arial" charset="0"/>
              <a:buNone/>
            </a:pPr>
            <a:endParaRPr lang="en-US" b="1" dirty="0"/>
          </a:p>
        </p:txBody>
      </p:sp>
      <p:pic>
        <p:nvPicPr>
          <p:cNvPr id="13" name="Image 2" descr="preencoded.png">
            <a:extLst>
              <a:ext uri="{FF2B5EF4-FFF2-40B4-BE49-F238E27FC236}">
                <a16:creationId xmlns:a16="http://schemas.microsoft.com/office/drawing/2014/main" id="{CB9089D5-194A-46DF-85E7-4C897DCE31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73203" y="1568876"/>
            <a:ext cx="1568824" cy="15688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638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299131-13C1-469D-8A54-7CD22DE484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>
                <a:solidFill>
                  <a:srgbClr val="0070C0"/>
                </a:solidFill>
              </a:rPr>
              <a:t>What We Have Built So Far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2B1CBC-709E-4606-A142-EAB7ECD58B9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50576" y="1231143"/>
            <a:ext cx="11403159" cy="5223272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Responsive UI Design: Home Page, Login, Signup, Browse Blood Drives, Organization page; all responsive across mobile, tablet, desktop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Authentication Module: User login/signup connected to MySQL. Credentials validated server-side. Error messages for invalid inputs.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Database Connectivity: Backend Node.js + Express.js successfully connected to MySQL. User data stored and retrieved during login flow.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Frontend Navigation &amp; Layout: Page routing and navigation between Home, Login, Dashboard implemented. Clean and minimal UI layout.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17556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9DCD08-E119-4626-AABB-1ABF1D0CA7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>
                <a:solidFill>
                  <a:srgbClr val="0070C0"/>
                </a:solidFill>
              </a:rPr>
              <a:t>Testing Results</a:t>
            </a:r>
          </a:p>
        </p:txBody>
      </p:sp>
      <p:graphicFrame>
        <p:nvGraphicFramePr>
          <p:cNvPr id="6" name="Table 0">
            <a:extLst>
              <a:ext uri="{FF2B5EF4-FFF2-40B4-BE49-F238E27FC236}">
                <a16:creationId xmlns:a16="http://schemas.microsoft.com/office/drawing/2014/main" id="{07502D11-279D-4D45-AEC5-9823A1D9881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97721265"/>
              </p:ext>
            </p:extLst>
          </p:nvPr>
        </p:nvGraphicFramePr>
        <p:xfrm>
          <a:off x="274320" y="2635625"/>
          <a:ext cx="5140362" cy="3496236"/>
        </p:xfrm>
        <a:graphic>
          <a:graphicData uri="http://schemas.openxmlformats.org/drawingml/2006/table">
            <a:tbl>
              <a:tblPr/>
              <a:tblGrid>
                <a:gridCol w="171345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134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1345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0432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Test Case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C34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34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34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34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1C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Module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C34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34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34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34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1C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Result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C34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34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34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34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1C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838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C9D1D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TC01 - Desktop layout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C34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34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34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34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C9D1D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UI Design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C34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34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34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34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C9D1D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 PASS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C34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34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34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34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838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C9D1D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TC02 - Mobile responsiveness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C34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34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34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34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C9D1D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UI Design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C34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34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34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34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C9D1D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 PASS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C34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34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34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34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1838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C9D1D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TC03 - Valid login credentials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C34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34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34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34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C9D1D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Login System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C34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34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34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34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C9D1D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 PASS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C34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34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34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34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1838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C9D1D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TC04 - Invalid credentials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C34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34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34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34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C9D1D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Login System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C34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34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34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34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C9D1D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 PASS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C34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34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34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34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1838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C9D1D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TC05 - MySQL data verification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C34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34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34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34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C9D1D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Database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C34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34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34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34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C9D1D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 PASS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C34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34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34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34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A1DCF1FA-897F-48D8-91C9-270DD03E6BB5}"/>
              </a:ext>
            </a:extLst>
          </p:cNvPr>
          <p:cNvSpPr txBox="1"/>
          <p:nvPr/>
        </p:nvSpPr>
        <p:spPr>
          <a:xfrm>
            <a:off x="1798491" y="1921279"/>
            <a:ext cx="241268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4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Unit Testing</a:t>
            </a:r>
            <a:endParaRPr lang="en-US" sz="24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C9A5DB5-684F-4B58-9270-40ED0210BB1A}"/>
              </a:ext>
            </a:extLst>
          </p:cNvPr>
          <p:cNvSpPr txBox="1"/>
          <p:nvPr/>
        </p:nvSpPr>
        <p:spPr>
          <a:xfrm>
            <a:off x="7980830" y="1921279"/>
            <a:ext cx="300130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4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System Testing</a:t>
            </a:r>
            <a:endParaRPr lang="en-US" sz="2400" dirty="0"/>
          </a:p>
        </p:txBody>
      </p:sp>
      <p:graphicFrame>
        <p:nvGraphicFramePr>
          <p:cNvPr id="11" name="Table 1">
            <a:extLst>
              <a:ext uri="{FF2B5EF4-FFF2-40B4-BE49-F238E27FC236}">
                <a16:creationId xmlns:a16="http://schemas.microsoft.com/office/drawing/2014/main" id="{9988D4F2-5424-4F66-956F-17F05288B3B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04377383"/>
              </p:ext>
            </p:extLst>
          </p:nvPr>
        </p:nvGraphicFramePr>
        <p:xfrm>
          <a:off x="6167719" y="2635625"/>
          <a:ext cx="5821680" cy="3487269"/>
        </p:xfrm>
        <a:graphic>
          <a:graphicData uri="http://schemas.openxmlformats.org/drawingml/2006/table">
            <a:tbl>
              <a:tblPr/>
              <a:tblGrid>
                <a:gridCol w="1940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40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40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132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Test Case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C34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34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34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34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1C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Scenario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C34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34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34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34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1C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Result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C34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34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34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34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1C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375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C9D1D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ST01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C34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34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34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34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C9D1D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UI Responsiveness (multi-device)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C34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34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34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34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C9D1D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 PASS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C34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34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34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34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167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C9D1D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ST02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C34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34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34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34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C9D1D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Login with valid credentials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C34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34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34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34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C9D1D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 PASS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C34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34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34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34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545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C9D1D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ST03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C34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34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34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34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C9D1D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Login failure handling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C34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34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34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34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C9D1D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 PASS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C34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34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34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34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633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C9D1D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ST04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C34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34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34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34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C9D1D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DB connectivity check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C34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34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34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34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C9D1D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 PASS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C34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34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34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34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788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C9D1D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ST05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C34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34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34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34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C9D1D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Page navigation flow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C34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34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34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34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C9D1D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 PASS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C34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34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34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34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589813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350E6E-93A9-4DD7-86B6-1A291D3DF1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>
                <a:solidFill>
                  <a:srgbClr val="0070C0"/>
                </a:solidFill>
              </a:rPr>
              <a:t>PROBLEMS/CHALLENGES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7BBD66-C7BB-44B6-B1F0-5EF81467260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40872" y="1634728"/>
            <a:ext cx="11646327" cy="5223272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Designing the database schema with correct foreign key relationships required careful upfront planning to avoid restructuring later.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Configuring Node.js + Express.js to communicate stably with MySQL required significant debugging of connection and async query handling.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SMS notification integration was dropped due to third-party API costs and technical complexity beyond the project's budget.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Donor availability accuracy depends entirely on users updating their own status, which cannot be enforced technically.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60586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DBA902-9FD0-44E8-8207-DD95117C75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>
                <a:solidFill>
                  <a:srgbClr val="0070C0"/>
                </a:solidFill>
              </a:rPr>
              <a:t>WHAT'S REMAINING: Upcoming Features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658EC3-2BD0-40DD-A9C7-BE8C04F9800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40872" y="1515025"/>
            <a:ext cx="11171056" cy="5223272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Donor &amp; Organization Modules: Full profile management for donors, organizers as well as admin for making clean and transparent dashboard within themselves.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Blood Request &amp; Donor Matching: Recipients post requests; system auto-matches donors by blood group and geographic proximity.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Real-Time Notifications: Socket.io-powered instant alerts to matched donors when a new emergency request is posted.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In-App Chat System: Bidirectional messaging between confirmed donor-drive pairs via Socket.io chat.</a:t>
            </a:r>
          </a:p>
          <a:p>
            <a:pPr marL="0" indent="0">
              <a:buNone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36914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2FF939-3D57-4739-97F7-CD8058C267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>
                <a:solidFill>
                  <a:srgbClr val="0070C0"/>
                </a:solidFill>
              </a:rPr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4A7C14-E788-4098-A2E8-101C570D99F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40872" y="1634728"/>
            <a:ext cx="6810624" cy="5223272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So, the (Blood Donation Finder) project is aimed to be developed as a fast, reliable and fully functional within scheduled timeline i.e. end of 13</a:t>
            </a:r>
            <a:r>
              <a:rPr lang="en-US" baseline="30000" dirty="0"/>
              <a:t>th</a:t>
            </a:r>
            <a:r>
              <a:rPr lang="en-US" dirty="0"/>
              <a:t> week.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20EC28C-57C7-456A-B4D2-FC79C2D795A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00844" y="1175657"/>
            <a:ext cx="3858936" cy="51447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55312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7A4CE08-6B85-40EA-8242-014C28969D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09469" y="1747603"/>
            <a:ext cx="6173061" cy="33627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7977639"/>
      </p:ext>
    </p:extLst>
  </p:cSld>
  <p:clrMapOvr>
    <a:masterClrMapping/>
  </p:clrMapOvr>
</p:sld>
</file>

<file path=ppt/theme/theme1.xml><?xml version="1.0" encoding="utf-8"?>
<a:theme xmlns:a="http://schemas.openxmlformats.org/drawingml/2006/main" name="IITR_PPT_Templat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ITR_template_sudiproy.pptx" id="{E7BE3218-A97E-4E6F-BE9F-92D6192B2CD5}" vid="{3EDE8FBA-E8F1-4B0B-AEA8-7DC234A91AE2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IITR_template_sudiproy</Template>
  <TotalTime>796</TotalTime>
  <Words>597</Words>
  <Application>Microsoft Office PowerPoint</Application>
  <PresentationFormat>Widescreen</PresentationFormat>
  <Paragraphs>124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Franklin Gothic Demi</vt:lpstr>
      <vt:lpstr>IITR_PPT_Template</vt:lpstr>
      <vt:lpstr>Project: Blood Donation Finder</vt:lpstr>
      <vt:lpstr>Table of Contents</vt:lpstr>
      <vt:lpstr>Project Recap</vt:lpstr>
      <vt:lpstr>SYSTEM ARCHITECTURE &amp; TECH STACK</vt:lpstr>
      <vt:lpstr>SYSTEM ARCHITECTURE &amp; TECH STACK</vt:lpstr>
      <vt:lpstr>What We Have Built So Far</vt:lpstr>
      <vt:lpstr>Testing Results</vt:lpstr>
      <vt:lpstr>PROBLEMS/CHALLENGES </vt:lpstr>
      <vt:lpstr>WHAT'S REMAINING: Upcoming Features</vt:lpstr>
      <vt:lpstr>CONCLUSION</vt:lpstr>
      <vt:lpstr>PowerPoint Presentation</vt:lpstr>
    </vt:vector>
  </TitlesOfParts>
  <Manager>Dr. Sudip Roy</Manager>
  <Company>IIT Roorkee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>IITR PPT Template</dc:subject>
  <dc:creator>Dr. Sudip Roy</dc:creator>
  <cp:lastModifiedBy>Deepesh Bastola</cp:lastModifiedBy>
  <cp:revision>96</cp:revision>
  <dcterms:created xsi:type="dcterms:W3CDTF">2015-07-18T13:17:54Z</dcterms:created>
  <dcterms:modified xsi:type="dcterms:W3CDTF">2026-06-29T04:28:47Z</dcterms:modified>
  <cp:version>v1</cp:version>
</cp:coreProperties>
</file>