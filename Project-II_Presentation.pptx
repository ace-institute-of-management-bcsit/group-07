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62" r:id="rId2"/>
    <p:sldId id="274" r:id="rId3"/>
    <p:sldId id="275" r:id="rId4"/>
    <p:sldId id="276" r:id="rId5"/>
    <p:sldId id="277" r:id="rId6"/>
    <p:sldId id="278" r:id="rId7"/>
    <p:sldId id="287" r:id="rId8"/>
    <p:sldId id="279" r:id="rId9"/>
    <p:sldId id="288" r:id="rId10"/>
    <p:sldId id="281" r:id="rId11"/>
    <p:sldId id="282" r:id="rId12"/>
    <p:sldId id="283" r:id="rId13"/>
    <p:sldId id="285" r:id="rId14"/>
    <p:sldId id="286" r:id="rId15"/>
    <p:sldId id="266"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090"/>
    <a:srgbClr val="000099"/>
    <a:srgbClr val="2E2F98"/>
    <a:srgbClr val="C0D82C"/>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102" autoAdjust="0"/>
    <p:restoredTop sz="94660"/>
  </p:normalViewPr>
  <p:slideViewPr>
    <p:cSldViewPr snapToGrid="0">
      <p:cViewPr>
        <p:scale>
          <a:sx n="75" d="100"/>
          <a:sy n="75" d="100"/>
        </p:scale>
        <p:origin x="43"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05-05-2026</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dirty="0"/>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0"/>
            <a:ext cx="12203372" cy="736270"/>
          </a:xfrm>
          <a:prstGeom prst="rect">
            <a:avLst/>
          </a:prstGeom>
          <a:gradFill>
            <a:gsLst>
              <a:gs pos="0">
                <a:srgbClr val="C0D82C"/>
              </a:gs>
              <a:gs pos="54000">
                <a:srgbClr val="00B0F0"/>
              </a:gs>
              <a:gs pos="100000">
                <a:schemeClr val="tx2">
                  <a:lumMod val="75000"/>
                </a:schemeClr>
              </a:gs>
              <a:gs pos="100000">
                <a:srgbClr val="2E2F9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ACE INSTITUTE OF MANAEGMENT</a:t>
            </a:r>
          </a:p>
        </p:txBody>
      </p:sp>
      <p:pic>
        <p:nvPicPr>
          <p:cNvPr id="14" name="Picture 13">
            <a:extLst>
              <a:ext uri="{FF2B5EF4-FFF2-40B4-BE49-F238E27FC236}">
                <a16:creationId xmlns:a16="http://schemas.microsoft.com/office/drawing/2014/main" id="{B81D8F32-4B7E-234D-7608-8305F6F30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cxnSp>
        <p:nvCxnSpPr>
          <p:cNvPr id="8" name="Straight Connector 7"/>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806436"/>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250576" y="1231143"/>
            <a:ext cx="11690849"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3" name="Picture 2">
            <a:extLst>
              <a:ext uri="{FF2B5EF4-FFF2-40B4-BE49-F238E27FC236}">
                <a16:creationId xmlns:a16="http://schemas.microsoft.com/office/drawing/2014/main" id="{0A0C322A-68A0-418E-1745-0B1A6D7936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2497430" y="2118212"/>
            <a:ext cx="7095541" cy="3510576"/>
          </a:xfrm>
          <a:prstGeom prst="rect">
            <a:avLst/>
          </a:prstGeom>
        </p:spPr>
      </p:pic>
      <p:sp>
        <p:nvSpPr>
          <p:cNvPr id="2"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240872" y="1132413"/>
            <a:ext cx="5718139"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40872" y="1613044"/>
            <a:ext cx="5718139"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6193368" y="1125167"/>
            <a:ext cx="565616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1613044"/>
            <a:ext cx="565616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1" name="Straight Connector 10"/>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8" name="Picture 7">
            <a:extLst>
              <a:ext uri="{FF2B5EF4-FFF2-40B4-BE49-F238E27FC236}">
                <a16:creationId xmlns:a16="http://schemas.microsoft.com/office/drawing/2014/main" id="{D4838245-5B6D-3C7C-1921-BCC6F0F5C5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cxnSp>
        <p:nvCxnSpPr>
          <p:cNvPr id="7" name="Straight Connector 6"/>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3" name="Picture 2">
            <a:extLst>
              <a:ext uri="{FF2B5EF4-FFF2-40B4-BE49-F238E27FC236}">
                <a16:creationId xmlns:a16="http://schemas.microsoft.com/office/drawing/2014/main" id="{1382D1C4-7436-F71F-5CC8-167D381D6D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hasCustomPrompt="1"/>
          </p:nvPr>
        </p:nvSpPr>
        <p:spPr>
          <a:xfrm>
            <a:off x="4485218" y="2971801"/>
            <a:ext cx="3270249" cy="711200"/>
          </a:xfrm>
        </p:spPr>
        <p:txBody>
          <a:bodyPr anchor="t"/>
          <a:lstStyle>
            <a:lvl1pPr algn="ctr">
              <a:defRPr sz="3600" b="1" cap="none"/>
            </a:lvl1pPr>
          </a:lstStyle>
          <a:p>
            <a:r>
              <a:rPr lang="en-US" dirty="0"/>
              <a:t>Thanks…</a:t>
            </a:r>
            <a:endParaRPr lang="en-IN" dirty="0"/>
          </a:p>
        </p:txBody>
      </p: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5/5/2026</a:t>
            </a:fld>
            <a:endParaRPr lang="en-US" dirty="0">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pjol.info/index.php/pjri/article/download/87678/66464" TargetMode="External"/><Relationship Id="rId2" Type="http://schemas.openxmlformats.org/officeDocument/2006/relationships/hyperlink" Target="https://www.mdpi.com/2079-8954/11/3/124" TargetMode="External"/><Relationship Id="rId1" Type="http://schemas.openxmlformats.org/officeDocument/2006/relationships/slideLayout" Target="../slideLayouts/slideLayout2.xml"/><Relationship Id="rId6" Type="http://schemas.openxmlformats.org/officeDocument/2006/relationships/hyperlink" Target="https://bloodconnect.org/" TargetMode="External"/><Relationship Id="rId5" Type="http://schemas.openxmlformats.org/officeDocument/2006/relationships/hyperlink" Target="https://www.researchgate.net/publication/394055105_blood_transfusion_services_in_nepal_an_overview" TargetMode="External"/><Relationship Id="rId4" Type="http://schemas.openxmlformats.org/officeDocument/2006/relationships/hyperlink" Target="https://www.sciencedirect.com/science/article/pii/S2772632023000132?via%3Dihu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2472417" y="1344837"/>
            <a:ext cx="7247166" cy="499336"/>
          </a:xfrm>
        </p:spPr>
        <p:txBody>
          <a:bodyPr/>
          <a:lstStyle>
            <a:lvl1pPr algn="ctr">
              <a:defRPr sz="2800" b="1">
                <a:latin typeface="+mn-lt"/>
              </a:defRPr>
            </a:lvl1pPr>
          </a:lstStyle>
          <a:p>
            <a:r>
              <a:rPr lang="en-US" sz="4800" dirty="0">
                <a:latin typeface="Arial" panose="020B0604020202020204" pitchFamily="34" charset="0"/>
                <a:cs typeface="Arial" panose="020B0604020202020204" pitchFamily="34" charset="0"/>
              </a:rPr>
              <a:t>Project: Blood Donation Finder</a:t>
            </a:r>
            <a:endParaRPr lang="en-IN" sz="4800" dirty="0">
              <a:latin typeface="Arial" panose="020B0604020202020204" pitchFamily="34" charset="0"/>
              <a:cs typeface="Arial" panose="020B0604020202020204" pitchFamily="34" charset="0"/>
            </a:endParaRPr>
          </a:p>
        </p:txBody>
      </p:sp>
      <p:sp>
        <p:nvSpPr>
          <p:cNvPr id="9" name="Text Placeholder 2"/>
          <p:cNvSpPr>
            <a:spLocks noGrp="1"/>
          </p:cNvSpPr>
          <p:nvPr>
            <p:ph type="body" idx="4294967295"/>
          </p:nvPr>
        </p:nvSpPr>
        <p:spPr>
          <a:xfrm>
            <a:off x="2593520" y="4281635"/>
            <a:ext cx="7247166" cy="423370"/>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Aryan </a:t>
            </a:r>
            <a:r>
              <a:rPr lang="en-US" dirty="0" err="1">
                <a:latin typeface="Arial" panose="020B0604020202020204" pitchFamily="34" charset="0"/>
                <a:cs typeface="Arial" panose="020B0604020202020204" pitchFamily="34" charset="0"/>
              </a:rPr>
              <a:t>Mainalee</a:t>
            </a:r>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Dipesh </a:t>
            </a:r>
            <a:r>
              <a:rPr lang="en-US" dirty="0" err="1">
                <a:latin typeface="Arial" panose="020B0604020202020204" pitchFamily="34" charset="0"/>
                <a:cs typeface="Arial" panose="020B0604020202020204" pitchFamily="34" charset="0"/>
              </a:rPr>
              <a:t>Bastola</a:t>
            </a:r>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Sulav Tiwari</a:t>
            </a:r>
          </a:p>
        </p:txBody>
      </p:sp>
      <p:sp>
        <p:nvSpPr>
          <p:cNvPr id="14" name="Text Placeholder 2"/>
          <p:cNvSpPr>
            <a:spLocks noGrp="1"/>
          </p:cNvSpPr>
          <p:nvPr>
            <p:ph type="body" idx="4294967295"/>
          </p:nvPr>
        </p:nvSpPr>
        <p:spPr>
          <a:xfrm>
            <a:off x="2754885" y="6009638"/>
            <a:ext cx="7247166" cy="423370"/>
          </a:xfrm>
        </p:spPr>
        <p:txBody>
          <a:bodyPr anchor="b"/>
          <a:lstStyle>
            <a:lvl1pPr marL="0" indent="0" algn="ctr">
              <a:buNone/>
              <a:defRPr sz="18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Under Supervision of</a:t>
            </a:r>
          </a:p>
          <a:p>
            <a:pPr lvl="0"/>
            <a:r>
              <a:rPr lang="en-US" dirty="0">
                <a:latin typeface="Arial" panose="020B0604020202020204" pitchFamily="34" charset="0"/>
                <a:cs typeface="Arial" panose="020B0604020202020204" pitchFamily="34" charset="0"/>
              </a:rPr>
              <a:t>Sanju Shrestha  </a:t>
            </a:r>
          </a:p>
        </p:txBody>
      </p:sp>
      <p:sp>
        <p:nvSpPr>
          <p:cNvPr id="15" name="Text Placeholder 2"/>
          <p:cNvSpPr>
            <a:spLocks noGrp="1"/>
          </p:cNvSpPr>
          <p:nvPr>
            <p:ph type="body" idx="4294967295"/>
          </p:nvPr>
        </p:nvSpPr>
        <p:spPr>
          <a:xfrm>
            <a:off x="2472417" y="2977002"/>
            <a:ext cx="7247166" cy="423370"/>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z="2800" dirty="0">
                <a:solidFill>
                  <a:srgbClr val="2E3090"/>
                </a:solidFill>
                <a:latin typeface="Arial" panose="020B0604020202020204" pitchFamily="34" charset="0"/>
                <a:cs typeface="Arial" panose="020B0604020202020204" pitchFamily="34" charset="0"/>
              </a:rPr>
              <a:t>By  Group 7</a:t>
            </a:r>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7919F-3856-4904-ABEC-454630BA35EB}"/>
              </a:ext>
            </a:extLst>
          </p:cNvPr>
          <p:cNvSpPr>
            <a:spLocks noGrp="1"/>
          </p:cNvSpPr>
          <p:nvPr>
            <p:ph type="title"/>
          </p:nvPr>
        </p:nvSpPr>
        <p:spPr/>
        <p:txBody>
          <a:bodyPr/>
          <a:lstStyle/>
          <a:p>
            <a:r>
              <a:rPr lang="en-US" sz="4000" dirty="0">
                <a:solidFill>
                  <a:srgbClr val="0070C0"/>
                </a:solidFill>
              </a:rPr>
              <a:t>Table of Contents</a:t>
            </a:r>
          </a:p>
        </p:txBody>
      </p:sp>
      <p:sp>
        <p:nvSpPr>
          <p:cNvPr id="3" name="Content Placeholder 2">
            <a:extLst>
              <a:ext uri="{FF2B5EF4-FFF2-40B4-BE49-F238E27FC236}">
                <a16:creationId xmlns:a16="http://schemas.microsoft.com/office/drawing/2014/main" id="{1865CAD1-5EE3-4559-A084-AF36077082A2}"/>
              </a:ext>
            </a:extLst>
          </p:cNvPr>
          <p:cNvSpPr>
            <a:spLocks noGrp="1"/>
          </p:cNvSpPr>
          <p:nvPr>
            <p:ph sz="half" idx="2"/>
          </p:nvPr>
        </p:nvSpPr>
        <p:spPr/>
        <p:txBody>
          <a:bodyPr/>
          <a:lstStyle/>
          <a:p>
            <a:r>
              <a:rPr lang="en-US" dirty="0"/>
              <a:t>Project Overview</a:t>
            </a:r>
          </a:p>
          <a:p>
            <a:r>
              <a:rPr lang="en-US" dirty="0"/>
              <a:t>Problems/Challenges </a:t>
            </a:r>
          </a:p>
          <a:p>
            <a:r>
              <a:rPr lang="en-US" dirty="0"/>
              <a:t>Literature Review</a:t>
            </a:r>
          </a:p>
          <a:p>
            <a:r>
              <a:rPr lang="en-US" dirty="0"/>
              <a:t>Goals and Objectives</a:t>
            </a:r>
          </a:p>
          <a:p>
            <a:r>
              <a:rPr lang="en-US" dirty="0"/>
              <a:t>Features</a:t>
            </a:r>
          </a:p>
          <a:p>
            <a:r>
              <a:rPr lang="en-US" dirty="0"/>
              <a:t>Methodology</a:t>
            </a:r>
          </a:p>
          <a:p>
            <a:r>
              <a:rPr lang="en-US" dirty="0"/>
              <a:t>Feasibility</a:t>
            </a:r>
          </a:p>
          <a:p>
            <a:r>
              <a:rPr lang="en-US" dirty="0"/>
              <a:t>Gantt Chart</a:t>
            </a:r>
          </a:p>
          <a:p>
            <a:r>
              <a:rPr lang="en-US" dirty="0"/>
              <a:t>Technology Used</a:t>
            </a:r>
          </a:p>
          <a:p>
            <a:r>
              <a:rPr lang="en-US" dirty="0"/>
              <a:t>Comparative Study</a:t>
            </a:r>
          </a:p>
          <a:p>
            <a:r>
              <a:rPr lang="en-US" dirty="0"/>
              <a:t>Conclusion</a:t>
            </a:r>
          </a:p>
          <a:p>
            <a:endParaRPr lang="en-US" dirty="0"/>
          </a:p>
          <a:p>
            <a:endParaRPr lang="en-US" dirty="0"/>
          </a:p>
          <a:p>
            <a:endParaRPr lang="en-US" dirty="0"/>
          </a:p>
        </p:txBody>
      </p:sp>
    </p:spTree>
    <p:extLst>
      <p:ext uri="{BB962C8B-B14F-4D97-AF65-F5344CB8AC3E}">
        <p14:creationId xmlns:p14="http://schemas.microsoft.com/office/powerpoint/2010/main" val="2766324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CD08-E119-4626-AABB-1ABF1D0CA77C}"/>
              </a:ext>
            </a:extLst>
          </p:cNvPr>
          <p:cNvSpPr>
            <a:spLocks noGrp="1"/>
          </p:cNvSpPr>
          <p:nvPr>
            <p:ph type="title"/>
          </p:nvPr>
        </p:nvSpPr>
        <p:spPr/>
        <p:txBody>
          <a:bodyPr/>
          <a:lstStyle/>
          <a:p>
            <a:r>
              <a:rPr lang="en-US" sz="4000" dirty="0">
                <a:solidFill>
                  <a:srgbClr val="0070C0"/>
                </a:solidFill>
              </a:rPr>
              <a:t>Project Overview: Blood Donation Finder</a:t>
            </a:r>
          </a:p>
        </p:txBody>
      </p:sp>
      <p:sp>
        <p:nvSpPr>
          <p:cNvPr id="3" name="Content Placeholder 2">
            <a:extLst>
              <a:ext uri="{FF2B5EF4-FFF2-40B4-BE49-F238E27FC236}">
                <a16:creationId xmlns:a16="http://schemas.microsoft.com/office/drawing/2014/main" id="{901ED13D-C26B-43CD-8179-2A9D93D8149B}"/>
              </a:ext>
            </a:extLst>
          </p:cNvPr>
          <p:cNvSpPr>
            <a:spLocks noGrp="1"/>
          </p:cNvSpPr>
          <p:nvPr>
            <p:ph sz="half" idx="2"/>
          </p:nvPr>
        </p:nvSpPr>
        <p:spPr>
          <a:xfrm>
            <a:off x="394011" y="1302860"/>
            <a:ext cx="5845423" cy="5223272"/>
          </a:xfrm>
        </p:spPr>
        <p:txBody>
          <a:bodyPr/>
          <a:lstStyle/>
          <a:p>
            <a:pPr marL="0" indent="0">
              <a:buNone/>
            </a:pPr>
            <a:r>
              <a:rPr lang="en-US" sz="2800" b="0" i="0" dirty="0">
                <a:effectLst/>
              </a:rPr>
              <a:t>A life-saving platform designed to connect blood donors with recipients in real time during medical emergencies. It simplifies and accelerates the process of finding the right blood type nearby, ensuring timely help when every second matters.</a:t>
            </a:r>
            <a:endParaRPr lang="en-US" sz="2800" dirty="0"/>
          </a:p>
        </p:txBody>
      </p:sp>
      <p:pic>
        <p:nvPicPr>
          <p:cNvPr id="5" name="Picture 4">
            <a:extLst>
              <a:ext uri="{FF2B5EF4-FFF2-40B4-BE49-F238E27FC236}">
                <a16:creationId xmlns:a16="http://schemas.microsoft.com/office/drawing/2014/main" id="{0B777055-635D-47DC-9463-CEA193068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9364" y="1237129"/>
            <a:ext cx="4320812" cy="4383741"/>
          </a:xfrm>
          <a:prstGeom prst="rect">
            <a:avLst/>
          </a:prstGeom>
        </p:spPr>
      </p:pic>
    </p:spTree>
    <p:extLst>
      <p:ext uri="{BB962C8B-B14F-4D97-AF65-F5344CB8AC3E}">
        <p14:creationId xmlns:p14="http://schemas.microsoft.com/office/powerpoint/2010/main" val="2858981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0E6E-93A9-4DD7-86B6-1A291D3DF153}"/>
              </a:ext>
            </a:extLst>
          </p:cNvPr>
          <p:cNvSpPr>
            <a:spLocks noGrp="1"/>
          </p:cNvSpPr>
          <p:nvPr>
            <p:ph type="title"/>
          </p:nvPr>
        </p:nvSpPr>
        <p:spPr/>
        <p:txBody>
          <a:bodyPr/>
          <a:lstStyle/>
          <a:p>
            <a:r>
              <a:rPr lang="en-US" sz="4000" dirty="0">
                <a:solidFill>
                  <a:srgbClr val="0070C0"/>
                </a:solidFill>
              </a:rPr>
              <a:t>PROBLEMS/CHALLENGES </a:t>
            </a:r>
          </a:p>
        </p:txBody>
      </p:sp>
      <p:sp>
        <p:nvSpPr>
          <p:cNvPr id="3" name="Content Placeholder 2">
            <a:extLst>
              <a:ext uri="{FF2B5EF4-FFF2-40B4-BE49-F238E27FC236}">
                <a16:creationId xmlns:a16="http://schemas.microsoft.com/office/drawing/2014/main" id="{F97BBD66-C7BB-44B6-B1F0-5EF814672601}"/>
              </a:ext>
            </a:extLst>
          </p:cNvPr>
          <p:cNvSpPr>
            <a:spLocks noGrp="1"/>
          </p:cNvSpPr>
          <p:nvPr>
            <p:ph sz="half" idx="2"/>
          </p:nvPr>
        </p:nvSpPr>
        <p:spPr>
          <a:xfrm>
            <a:off x="250576" y="1634728"/>
            <a:ext cx="7943165" cy="5223272"/>
          </a:xfrm>
        </p:spPr>
        <p:txBody>
          <a:bodyPr/>
          <a:lstStyle/>
          <a:p>
            <a:pPr>
              <a:buFont typeface="Arial" panose="020B0604020202020204" pitchFamily="34" charset="0"/>
              <a:buChar char="•"/>
            </a:pPr>
            <a:r>
              <a:rPr lang="en-US" dirty="0"/>
              <a:t>Hard to find donors quickly in emergencies </a:t>
            </a:r>
          </a:p>
          <a:p>
            <a:pPr>
              <a:buFont typeface="Arial" panose="020B0604020202020204" pitchFamily="34" charset="0"/>
              <a:buChar char="•"/>
            </a:pPr>
            <a:r>
              <a:rPr lang="en-US" dirty="0"/>
              <a:t>No proper platform for donor connection </a:t>
            </a:r>
          </a:p>
          <a:p>
            <a:pPr>
              <a:buFont typeface="Arial" panose="020B0604020202020204" pitchFamily="34" charset="0"/>
              <a:buChar char="•"/>
            </a:pPr>
            <a:r>
              <a:rPr lang="en-US" dirty="0"/>
              <a:t>Delay due to manual phone searches </a:t>
            </a:r>
          </a:p>
          <a:p>
            <a:pPr>
              <a:buFont typeface="Arial" panose="020B0604020202020204" pitchFamily="34" charset="0"/>
              <a:buChar char="•"/>
            </a:pPr>
            <a:r>
              <a:rPr lang="en-US" dirty="0"/>
              <a:t>Outdated donor and blood records </a:t>
            </a:r>
          </a:p>
          <a:p>
            <a:pPr>
              <a:buFont typeface="Arial" panose="020B0604020202020204" pitchFamily="34" charset="0"/>
              <a:buChar char="•"/>
            </a:pPr>
            <a:r>
              <a:rPr lang="en-US" dirty="0"/>
              <a:t>Shortage of rare blood groups </a:t>
            </a:r>
          </a:p>
          <a:p>
            <a:pPr>
              <a:buFont typeface="Arial" panose="020B0604020202020204" pitchFamily="34" charset="0"/>
              <a:buChar char="•"/>
            </a:pPr>
            <a:r>
              <a:rPr lang="en-US" dirty="0"/>
              <a:t>Low awareness of blood donation </a:t>
            </a:r>
          </a:p>
          <a:p>
            <a:pPr>
              <a:buFont typeface="Arial" panose="020B0604020202020204" pitchFamily="34" charset="0"/>
              <a:buChar char="•"/>
            </a:pPr>
            <a:r>
              <a:rPr lang="en-US" dirty="0"/>
              <a:t>Need secure user data storage </a:t>
            </a:r>
          </a:p>
        </p:txBody>
      </p:sp>
      <p:pic>
        <p:nvPicPr>
          <p:cNvPr id="7" name="Picture 6">
            <a:extLst>
              <a:ext uri="{FF2B5EF4-FFF2-40B4-BE49-F238E27FC236}">
                <a16:creationId xmlns:a16="http://schemas.microsoft.com/office/drawing/2014/main" id="{C906F4DF-9B4D-46AA-A3F8-ECB8EA9E2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965" y="1346687"/>
            <a:ext cx="4991459" cy="4280170"/>
          </a:xfrm>
          <a:prstGeom prst="rect">
            <a:avLst/>
          </a:prstGeom>
          <a:effectLst>
            <a:softEdge rad="254000"/>
          </a:effectLst>
        </p:spPr>
      </p:pic>
    </p:spTree>
    <p:extLst>
      <p:ext uri="{BB962C8B-B14F-4D97-AF65-F5344CB8AC3E}">
        <p14:creationId xmlns:p14="http://schemas.microsoft.com/office/powerpoint/2010/main" val="61605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0308B-F2BA-473C-AD7E-DFAEA0A5EBE4}"/>
              </a:ext>
            </a:extLst>
          </p:cNvPr>
          <p:cNvSpPr>
            <a:spLocks noGrp="1"/>
          </p:cNvSpPr>
          <p:nvPr>
            <p:ph type="title"/>
          </p:nvPr>
        </p:nvSpPr>
        <p:spPr/>
        <p:txBody>
          <a:bodyPr/>
          <a:lstStyle/>
          <a:p>
            <a:r>
              <a:rPr lang="en-US" sz="4000" dirty="0">
                <a:solidFill>
                  <a:srgbClr val="0070C0"/>
                </a:solidFill>
              </a:rPr>
              <a:t>Literature Review</a:t>
            </a:r>
          </a:p>
        </p:txBody>
      </p:sp>
      <p:sp>
        <p:nvSpPr>
          <p:cNvPr id="3" name="Content Placeholder 2">
            <a:extLst>
              <a:ext uri="{FF2B5EF4-FFF2-40B4-BE49-F238E27FC236}">
                <a16:creationId xmlns:a16="http://schemas.microsoft.com/office/drawing/2014/main" id="{565F895C-FB78-4E59-8BC6-59F7F15CE14B}"/>
              </a:ext>
            </a:extLst>
          </p:cNvPr>
          <p:cNvSpPr>
            <a:spLocks noGrp="1"/>
          </p:cNvSpPr>
          <p:nvPr>
            <p:ph sz="half" idx="2"/>
          </p:nvPr>
        </p:nvSpPr>
        <p:spPr/>
        <p:txBody>
          <a:bodyPr/>
          <a:lstStyle/>
          <a:p>
            <a:r>
              <a:rPr lang="en-US" i="0" dirty="0">
                <a:effectLst/>
              </a:rPr>
              <a:t>A systematic literature review of the blood supply chain through bibliometric analysis and taxonomy,</a:t>
            </a:r>
            <a:r>
              <a:rPr lang="en-US" b="1" i="0" dirty="0">
                <a:effectLst/>
              </a:rPr>
              <a:t> </a:t>
            </a:r>
            <a:r>
              <a:rPr lang="en-US" dirty="0">
                <a:hlinkClick r:id="rId2">
                  <a:extLst>
                    <a:ext uri="{A12FA001-AC4F-418D-AE19-62706E023703}">
                      <ahyp:hlinkClr xmlns:ahyp="http://schemas.microsoft.com/office/drawing/2018/hyperlinkcolor" val="tx"/>
                    </a:ext>
                  </a:extLst>
                </a:hlinkClick>
              </a:rPr>
              <a:t>https://www.Mdpi.Com/2079-8954/11/3/124</a:t>
            </a:r>
            <a:endParaRPr lang="en-US" dirty="0"/>
          </a:p>
          <a:p>
            <a:pPr algn="l"/>
            <a:r>
              <a:rPr lang="en-US" i="0" dirty="0">
                <a:effectLst/>
              </a:rPr>
              <a:t>Knowledge, attitude and practice of voluntary blood donation among higher education students in </a:t>
            </a:r>
            <a:r>
              <a:rPr lang="en-US" dirty="0"/>
              <a:t>N</a:t>
            </a:r>
            <a:r>
              <a:rPr lang="en-US" i="0" dirty="0">
                <a:effectLst/>
              </a:rPr>
              <a:t>epal, </a:t>
            </a:r>
            <a:r>
              <a:rPr lang="en-US" dirty="0">
                <a:hlinkClick r:id="rId3">
                  <a:extLst>
                    <a:ext uri="{A12FA001-AC4F-418D-AE19-62706E023703}">
                      <ahyp:hlinkClr xmlns:ahyp="http://schemas.microsoft.com/office/drawing/2018/hyperlinkcolor" val="tx"/>
                    </a:ext>
                  </a:extLst>
                </a:hlinkClick>
              </a:rPr>
              <a:t>https://nepjol.Info/index.Php/pjri/article/download/87678/66464</a:t>
            </a:r>
            <a:endParaRPr lang="en-US" dirty="0"/>
          </a:p>
          <a:p>
            <a:pPr algn="l"/>
            <a:r>
              <a:rPr lang="en-US" b="0" i="0" dirty="0">
                <a:effectLst/>
              </a:rPr>
              <a:t>Impact of natural disasters and pandemics on blood supply: A systematic review, </a:t>
            </a:r>
            <a:r>
              <a:rPr lang="en-US" b="0" i="0" dirty="0">
                <a:effectLst/>
                <a:hlinkClick r:id="rId4">
                  <a:extLst>
                    <a:ext uri="{A12FA001-AC4F-418D-AE19-62706E023703}">
                      <ahyp:hlinkClr xmlns:ahyp="http://schemas.microsoft.com/office/drawing/2018/hyperlinkcolor" val="tx"/>
                    </a:ext>
                  </a:extLst>
                </a:hlinkClick>
              </a:rPr>
              <a:t>https://www.Sciencedirect.Com/science/article/pii/S2772632023000132?Via%3dihub</a:t>
            </a:r>
            <a:endParaRPr lang="en-US" b="0" i="0" dirty="0">
              <a:effectLst/>
            </a:endParaRPr>
          </a:p>
          <a:p>
            <a:pPr algn="l"/>
            <a:r>
              <a:rPr lang="en-US" b="0" i="0" dirty="0">
                <a:effectLst/>
              </a:rPr>
              <a:t>Blood transfusion services in </a:t>
            </a:r>
            <a:r>
              <a:rPr lang="en-US" dirty="0"/>
              <a:t>N</a:t>
            </a:r>
            <a:r>
              <a:rPr lang="en-US" b="0" i="0" dirty="0">
                <a:effectLst/>
              </a:rPr>
              <a:t>epal: an overview, </a:t>
            </a:r>
            <a:r>
              <a:rPr lang="en-US" b="0" i="0" dirty="0">
                <a:effectLst/>
                <a:hlinkClick r:id="rId5">
                  <a:extLst>
                    <a:ext uri="{A12FA001-AC4F-418D-AE19-62706E023703}">
                      <ahyp:hlinkClr xmlns:ahyp="http://schemas.microsoft.com/office/drawing/2018/hyperlinkcolor" val="tx"/>
                    </a:ext>
                  </a:extLst>
                </a:hlinkClick>
              </a:rPr>
              <a:t>https://www.Researchgate.Net/publication/394055105_blood_transfusion_services_in_nepal_an_overview</a:t>
            </a:r>
            <a:endParaRPr lang="en-US" b="0" i="0" dirty="0">
              <a:effectLst/>
            </a:endParaRPr>
          </a:p>
          <a:p>
            <a:pPr algn="l"/>
            <a:r>
              <a:rPr lang="en-US" b="0" i="0" dirty="0">
                <a:effectLst/>
                <a:hlinkClick r:id="rId6"/>
              </a:rPr>
              <a:t>https://bloodconnect.org/</a:t>
            </a:r>
            <a:endParaRPr lang="en-US" dirty="0"/>
          </a:p>
          <a:p>
            <a:r>
              <a:rPr lang="en-US" b="0" i="0" dirty="0">
                <a:effectLst/>
              </a:rPr>
              <a:t>Sankalp India Foundation's app</a:t>
            </a:r>
            <a:r>
              <a:rPr lang="en-US" dirty="0"/>
              <a:t>, https://hamrolifebank.com/</a:t>
            </a:r>
            <a:endParaRPr lang="en-US" b="0" i="0" dirty="0">
              <a:effectLst/>
            </a:endParaRPr>
          </a:p>
          <a:p>
            <a:pPr algn="l"/>
            <a:endParaRPr lang="en-US" b="0" i="0" dirty="0">
              <a:effectLst/>
            </a:endParaRPr>
          </a:p>
          <a:p>
            <a:pPr algn="l"/>
            <a:endParaRPr lang="en-US" b="0" i="0" dirty="0">
              <a:effectLst/>
            </a:endParaRPr>
          </a:p>
          <a:p>
            <a:pPr algn="l"/>
            <a:endParaRPr lang="en-US" b="0" i="0" dirty="0">
              <a:effectLst/>
            </a:endParaRPr>
          </a:p>
          <a:p>
            <a:pPr algn="l"/>
            <a:endParaRPr lang="en-US" dirty="0"/>
          </a:p>
          <a:p>
            <a:endParaRPr lang="en-US" dirty="0"/>
          </a:p>
        </p:txBody>
      </p:sp>
    </p:spTree>
    <p:extLst>
      <p:ext uri="{BB962C8B-B14F-4D97-AF65-F5344CB8AC3E}">
        <p14:creationId xmlns:p14="http://schemas.microsoft.com/office/powerpoint/2010/main" val="42180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GOAL and OBJECTIVES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250576" y="1231143"/>
            <a:ext cx="11403159" cy="5223272"/>
          </a:xfrm>
        </p:spPr>
        <p:txBody>
          <a:bodyPr/>
          <a:lstStyle/>
          <a:p>
            <a:pPr marL="0" indent="0">
              <a:buNone/>
            </a:pPr>
            <a:r>
              <a:rPr lang="en-US" b="1" dirty="0">
                <a:solidFill>
                  <a:srgbClr val="7030A0"/>
                </a:solidFill>
              </a:rPr>
              <a:t>Primary Goal:</a:t>
            </a:r>
          </a:p>
          <a:p>
            <a:pPr marL="0" indent="0">
              <a:buNone/>
            </a:pPr>
            <a:r>
              <a:rPr lang="en-US" dirty="0"/>
              <a:t>P</a:t>
            </a:r>
            <a:r>
              <a:rPr lang="en-US" b="0" i="0" dirty="0">
                <a:effectLst/>
              </a:rPr>
              <a:t>rovide a fast, reliable, and user-friendly platform for emergency blood connection.</a:t>
            </a:r>
          </a:p>
          <a:p>
            <a:pPr marL="0" indent="0">
              <a:buNone/>
            </a:pPr>
            <a:endParaRPr lang="en-US" dirty="0"/>
          </a:p>
          <a:p>
            <a:pPr marL="0" indent="0">
              <a:buNone/>
            </a:pPr>
            <a:r>
              <a:rPr lang="en-US" b="1" dirty="0">
                <a:solidFill>
                  <a:srgbClr val="7030A0"/>
                </a:solidFill>
              </a:rPr>
              <a:t>Objectives</a:t>
            </a:r>
          </a:p>
          <a:p>
            <a:pPr>
              <a:buFont typeface="Arial" panose="020B0604020202020204" pitchFamily="34" charset="0"/>
              <a:buChar char="•"/>
            </a:pPr>
            <a:r>
              <a:rPr lang="en-US" dirty="0"/>
              <a:t>Develop fast donor connection system </a:t>
            </a:r>
          </a:p>
          <a:p>
            <a:pPr>
              <a:buFont typeface="Arial" panose="020B0604020202020204" pitchFamily="34" charset="0"/>
              <a:buChar char="•"/>
            </a:pPr>
            <a:r>
              <a:rPr lang="en-US" dirty="0"/>
              <a:t>Create reliable and accurate platform </a:t>
            </a:r>
          </a:p>
          <a:p>
            <a:pPr>
              <a:buFont typeface="Arial" panose="020B0604020202020204" pitchFamily="34" charset="0"/>
              <a:buChar char="•"/>
            </a:pPr>
            <a:r>
              <a:rPr lang="en-US" dirty="0"/>
              <a:t>Design simple user-friendly interface </a:t>
            </a:r>
          </a:p>
          <a:p>
            <a:pPr>
              <a:buFont typeface="Arial" panose="020B0604020202020204" pitchFamily="34" charset="0"/>
              <a:buChar char="•"/>
            </a:pPr>
            <a:r>
              <a:rPr lang="en-US" dirty="0"/>
              <a:t>Reduce delay in finding donors </a:t>
            </a:r>
          </a:p>
          <a:p>
            <a:pPr>
              <a:buFont typeface="Arial" panose="020B0604020202020204" pitchFamily="34" charset="0"/>
              <a:buChar char="•"/>
            </a:pPr>
            <a:r>
              <a:rPr lang="en-US" dirty="0"/>
              <a:t>Improve communication between users </a:t>
            </a:r>
          </a:p>
          <a:p>
            <a:pPr>
              <a:buFont typeface="Arial" panose="020B0604020202020204" pitchFamily="34" charset="0"/>
              <a:buChar char="•"/>
            </a:pPr>
            <a:r>
              <a:rPr lang="en-US" dirty="0"/>
              <a:t>Maintain structured donor database </a:t>
            </a:r>
          </a:p>
          <a:p>
            <a:pPr>
              <a:buFont typeface="Arial" panose="020B0604020202020204" pitchFamily="34" charset="0"/>
              <a:buChar char="•"/>
            </a:pPr>
            <a:r>
              <a:rPr lang="en-US" dirty="0"/>
              <a:t>Ensure quick emergency response </a:t>
            </a:r>
          </a:p>
        </p:txBody>
      </p:sp>
    </p:spTree>
    <p:extLst>
      <p:ext uri="{BB962C8B-B14F-4D97-AF65-F5344CB8AC3E}">
        <p14:creationId xmlns:p14="http://schemas.microsoft.com/office/powerpoint/2010/main" val="471755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FEATURES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421741" y="1476324"/>
            <a:ext cx="5262455" cy="4983928"/>
          </a:xfrm>
          <a:solidFill>
            <a:schemeClr val="accent5">
              <a:lumMod val="40000"/>
              <a:lumOff val="60000"/>
            </a:schemeClr>
          </a:solidFill>
        </p:spPr>
        <p:txBody>
          <a:bodyPr/>
          <a:lstStyle/>
          <a:p>
            <a:pPr marL="0" indent="0" algn="ctr">
              <a:buNone/>
            </a:pPr>
            <a:r>
              <a:rPr lang="en-US" b="1" dirty="0">
                <a:solidFill>
                  <a:srgbClr val="7030A0"/>
                </a:solidFill>
              </a:rPr>
              <a:t>Core Features</a:t>
            </a:r>
          </a:p>
          <a:p>
            <a:pPr marL="0" indent="0">
              <a:buNone/>
            </a:pPr>
            <a:endParaRPr lang="en-US" b="1" dirty="0"/>
          </a:p>
          <a:p>
            <a:pPr>
              <a:buFont typeface="Arial" panose="020B0604020202020204" pitchFamily="34" charset="0"/>
              <a:buChar char="•"/>
            </a:pPr>
            <a:r>
              <a:rPr lang="en-US" b="0" i="0" dirty="0">
                <a:effectLst/>
              </a:rPr>
              <a:t>User &amp; Organization Registration</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Blood Request System</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Donor-Requester Matching</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Request Status Tracking</a:t>
            </a:r>
          </a:p>
          <a:p>
            <a:pPr>
              <a:buFont typeface="Arial" panose="020B0604020202020204" pitchFamily="34" charset="0"/>
              <a:buChar char="•"/>
            </a:pPr>
            <a:endParaRPr lang="en-US" dirty="0"/>
          </a:p>
          <a:p>
            <a:pPr marL="0" indent="0">
              <a:buNone/>
            </a:pPr>
            <a:endParaRPr lang="en-US" dirty="0"/>
          </a:p>
        </p:txBody>
      </p:sp>
      <p:sp>
        <p:nvSpPr>
          <p:cNvPr id="4" name="Content Placeholder 2">
            <a:extLst>
              <a:ext uri="{FF2B5EF4-FFF2-40B4-BE49-F238E27FC236}">
                <a16:creationId xmlns:a16="http://schemas.microsoft.com/office/drawing/2014/main" id="{E3AEB74C-68BB-41B1-8E28-F89B0E1FF446}"/>
              </a:ext>
            </a:extLst>
          </p:cNvPr>
          <p:cNvSpPr txBox="1">
            <a:spLocks/>
          </p:cNvSpPr>
          <p:nvPr/>
        </p:nvSpPr>
        <p:spPr bwMode="auto">
          <a:xfrm>
            <a:off x="6235830" y="1476324"/>
            <a:ext cx="5534429" cy="4983928"/>
          </a:xfrm>
          <a:prstGeom prst="rect">
            <a:avLst/>
          </a:prstGeom>
          <a:solidFill>
            <a:schemeClr val="accent5">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Secondary Features</a:t>
            </a:r>
          </a:p>
          <a:p>
            <a:pPr marL="0" indent="0">
              <a:buNone/>
            </a:pPr>
            <a:endParaRPr lang="en-US" dirty="0"/>
          </a:p>
          <a:p>
            <a:pPr>
              <a:buFont typeface="Arial" panose="020B0604020202020204" pitchFamily="34" charset="0"/>
              <a:buChar char="•"/>
            </a:pPr>
            <a:r>
              <a:rPr lang="en-US" dirty="0"/>
              <a:t>In-App Chat</a:t>
            </a:r>
          </a:p>
          <a:p>
            <a:pPr>
              <a:buFont typeface="Arial" panose="020B0604020202020204" pitchFamily="34" charset="0"/>
              <a:buChar char="•"/>
            </a:pPr>
            <a:endParaRPr lang="en-US" dirty="0"/>
          </a:p>
          <a:p>
            <a:pPr>
              <a:buFont typeface="Arial" panose="020B0604020202020204" pitchFamily="34" charset="0"/>
              <a:buChar char="•"/>
            </a:pPr>
            <a:r>
              <a:rPr lang="en-US" dirty="0"/>
              <a:t>Donor Availability Toggle </a:t>
            </a:r>
          </a:p>
          <a:p>
            <a:pPr>
              <a:buFont typeface="Arial" panose="020B0604020202020204" pitchFamily="34" charset="0"/>
              <a:buChar char="•"/>
            </a:pPr>
            <a:endParaRPr lang="en-US" dirty="0"/>
          </a:p>
          <a:p>
            <a:pPr>
              <a:buFont typeface="Arial" panose="020B0604020202020204" pitchFamily="34" charset="0"/>
              <a:buChar char="•"/>
            </a:pPr>
            <a:r>
              <a:rPr lang="en-US" dirty="0"/>
              <a:t>Donation History </a:t>
            </a:r>
          </a:p>
          <a:p>
            <a:pPr>
              <a:buFont typeface="Arial" panose="020B0604020202020204" pitchFamily="34" charset="0"/>
              <a:buChar char="•"/>
            </a:pPr>
            <a:endParaRPr lang="en-US" dirty="0"/>
          </a:p>
          <a:p>
            <a:pPr>
              <a:buFont typeface="Arial" panose="020B0604020202020204" pitchFamily="34" charset="0"/>
              <a:buChar char="•"/>
            </a:pPr>
            <a:r>
              <a:rPr lang="en-US" dirty="0"/>
              <a:t>Email/SMS Notifications </a:t>
            </a:r>
          </a:p>
          <a:p>
            <a:pPr>
              <a:buFont typeface="Arial" panose="020B0604020202020204" pitchFamily="34" charset="0"/>
              <a:buChar char="•"/>
            </a:pPr>
            <a:endParaRPr lang="en-US" dirty="0"/>
          </a:p>
          <a:p>
            <a:pPr>
              <a:buFont typeface="Arial" panose="020B0604020202020204" pitchFamily="34" charset="0"/>
              <a:buChar char="•"/>
            </a:pPr>
            <a:r>
              <a:rPr lang="en-US" dirty="0"/>
              <a:t>Admin Dashboard </a:t>
            </a:r>
          </a:p>
          <a:p>
            <a:pPr>
              <a:buFont typeface="Arial" panose="020B0604020202020204" pitchFamily="34" charset="0"/>
              <a:buChar char="•"/>
            </a:pPr>
            <a:endParaRPr lang="en-US" dirty="0"/>
          </a:p>
          <a:p>
            <a:pPr marL="0" indent="0">
              <a:buFont typeface="Arial" charset="0"/>
              <a:buNone/>
            </a:pPr>
            <a:endParaRPr lang="en-US" dirty="0"/>
          </a:p>
        </p:txBody>
      </p:sp>
    </p:spTree>
    <p:extLst>
      <p:ext uri="{BB962C8B-B14F-4D97-AF65-F5344CB8AC3E}">
        <p14:creationId xmlns:p14="http://schemas.microsoft.com/office/powerpoint/2010/main" val="874615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48F7-E368-46E2-A579-846148880076}"/>
              </a:ext>
            </a:extLst>
          </p:cNvPr>
          <p:cNvSpPr>
            <a:spLocks noGrp="1"/>
          </p:cNvSpPr>
          <p:nvPr>
            <p:ph type="title"/>
          </p:nvPr>
        </p:nvSpPr>
        <p:spPr/>
        <p:txBody>
          <a:bodyPr/>
          <a:lstStyle/>
          <a:p>
            <a:r>
              <a:rPr lang="en-US" sz="4000" dirty="0">
                <a:solidFill>
                  <a:srgbClr val="0070C0"/>
                </a:solidFill>
              </a:rPr>
              <a:t>METHODOLOGY</a:t>
            </a:r>
          </a:p>
        </p:txBody>
      </p:sp>
      <p:sp>
        <p:nvSpPr>
          <p:cNvPr id="3" name="Content Placeholder 2">
            <a:extLst>
              <a:ext uri="{FF2B5EF4-FFF2-40B4-BE49-F238E27FC236}">
                <a16:creationId xmlns:a16="http://schemas.microsoft.com/office/drawing/2014/main" id="{94C50BD7-16EE-49E9-94BB-99C8CF03A590}"/>
              </a:ext>
            </a:extLst>
          </p:cNvPr>
          <p:cNvSpPr>
            <a:spLocks noGrp="1"/>
          </p:cNvSpPr>
          <p:nvPr>
            <p:ph sz="half" idx="2"/>
          </p:nvPr>
        </p:nvSpPr>
        <p:spPr>
          <a:xfrm>
            <a:off x="250575" y="1634728"/>
            <a:ext cx="11690849" cy="5223272"/>
          </a:xfrm>
        </p:spPr>
        <p:txBody>
          <a:bodyPr/>
          <a:lstStyle/>
          <a:p>
            <a:pPr>
              <a:buFont typeface="Arial" panose="020B0604020202020204" pitchFamily="34" charset="0"/>
              <a:buChar char="•"/>
            </a:pPr>
            <a:r>
              <a:rPr lang="en-US" dirty="0"/>
              <a:t>Requirement analysis by identifying user needs</a:t>
            </a:r>
          </a:p>
          <a:p>
            <a:pPr>
              <a:buFont typeface="Arial" panose="020B0604020202020204" pitchFamily="34" charset="0"/>
              <a:buChar char="•"/>
            </a:pPr>
            <a:r>
              <a:rPr lang="en-US" dirty="0"/>
              <a:t>Designing system structure (UI wireframes and database design) </a:t>
            </a:r>
          </a:p>
          <a:p>
            <a:pPr>
              <a:buFont typeface="Arial" panose="020B0604020202020204" pitchFamily="34" charset="0"/>
              <a:buChar char="•"/>
            </a:pPr>
            <a:r>
              <a:rPr lang="en-US" dirty="0"/>
              <a:t>Front-end development using HTML, CSS, JS</a:t>
            </a:r>
          </a:p>
          <a:p>
            <a:pPr>
              <a:buFont typeface="Arial" panose="020B0604020202020204" pitchFamily="34" charset="0"/>
              <a:buChar char="•"/>
            </a:pPr>
            <a:r>
              <a:rPr lang="en-US" dirty="0"/>
              <a:t>Back-end development using Node.js, Socket.io, Express.js</a:t>
            </a:r>
          </a:p>
          <a:p>
            <a:pPr>
              <a:buFont typeface="Arial" panose="020B0604020202020204" pitchFamily="34" charset="0"/>
              <a:buChar char="•"/>
            </a:pPr>
            <a:r>
              <a:rPr lang="en-US" dirty="0"/>
              <a:t>Database creation to store donor and blood information(MySQL)</a:t>
            </a:r>
          </a:p>
          <a:p>
            <a:pPr>
              <a:buFont typeface="Arial" panose="020B0604020202020204" pitchFamily="34" charset="0"/>
              <a:buChar char="•"/>
            </a:pPr>
            <a:r>
              <a:rPr lang="en-US" dirty="0"/>
              <a:t>Testing the system for errors and functionality </a:t>
            </a:r>
          </a:p>
          <a:p>
            <a:pPr>
              <a:buFont typeface="Arial" panose="020B0604020202020204" pitchFamily="34" charset="0"/>
              <a:buChar char="•"/>
            </a:pPr>
            <a:r>
              <a:rPr lang="en-US" dirty="0"/>
              <a:t>Deployment of the web application for user access</a:t>
            </a:r>
          </a:p>
          <a:p>
            <a:pPr>
              <a:buFont typeface="Arial" panose="020B0604020202020204" pitchFamily="34" charset="0"/>
              <a:buChar char="•"/>
            </a:pPr>
            <a:r>
              <a:rPr lang="en-US" dirty="0"/>
              <a:t>Collecting feedback and improving the system </a:t>
            </a:r>
          </a:p>
        </p:txBody>
      </p:sp>
    </p:spTree>
    <p:extLst>
      <p:ext uri="{BB962C8B-B14F-4D97-AF65-F5344CB8AC3E}">
        <p14:creationId xmlns:p14="http://schemas.microsoft.com/office/powerpoint/2010/main" val="2991008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FEASIBILITY</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321697" y="1891543"/>
            <a:ext cx="7704704" cy="5223272"/>
          </a:xfrm>
        </p:spPr>
        <p:txBody>
          <a:bodyPr/>
          <a:lstStyle/>
          <a:p>
            <a:pPr>
              <a:buFont typeface="Arial" panose="020B0604020202020204" pitchFamily="34" charset="0"/>
              <a:buChar char="•"/>
            </a:pPr>
            <a:r>
              <a:rPr lang="en-US" dirty="0"/>
              <a:t>Technically feasible using web technologies </a:t>
            </a:r>
          </a:p>
          <a:p>
            <a:pPr>
              <a:buFont typeface="Arial" panose="020B0604020202020204" pitchFamily="34" charset="0"/>
              <a:buChar char="•"/>
            </a:pPr>
            <a:r>
              <a:rPr lang="en-US" dirty="0"/>
              <a:t>Uses common stack HTML CSS JS </a:t>
            </a:r>
          </a:p>
          <a:p>
            <a:pPr>
              <a:buFont typeface="Arial" panose="020B0604020202020204" pitchFamily="34" charset="0"/>
              <a:buChar char="•"/>
            </a:pPr>
            <a:r>
              <a:rPr lang="en-US" dirty="0"/>
              <a:t>Backend supported by Node Express MySQL </a:t>
            </a:r>
          </a:p>
          <a:p>
            <a:pPr>
              <a:buFont typeface="Arial" panose="020B0604020202020204" pitchFamily="34" charset="0"/>
              <a:buChar char="•"/>
            </a:pPr>
            <a:r>
              <a:rPr lang="en-US" dirty="0"/>
              <a:t>Socket.io enables real-time communication </a:t>
            </a:r>
          </a:p>
          <a:p>
            <a:pPr>
              <a:buFont typeface="Arial" panose="020B0604020202020204" pitchFamily="34" charset="0"/>
              <a:buChar char="•"/>
            </a:pPr>
            <a:r>
              <a:rPr lang="en-US" dirty="0"/>
              <a:t>Email notifications improve emergency response </a:t>
            </a:r>
          </a:p>
          <a:p>
            <a:pPr>
              <a:buFont typeface="Arial" panose="020B0604020202020204" pitchFamily="34" charset="0"/>
              <a:buChar char="•"/>
            </a:pPr>
            <a:r>
              <a:rPr lang="en-US" dirty="0"/>
              <a:t>Low cost development and maintenance required </a:t>
            </a:r>
          </a:p>
          <a:p>
            <a:endParaRPr lang="en-US" dirty="0"/>
          </a:p>
        </p:txBody>
      </p:sp>
      <p:pic>
        <p:nvPicPr>
          <p:cNvPr id="7" name="Picture 6">
            <a:extLst>
              <a:ext uri="{FF2B5EF4-FFF2-40B4-BE49-F238E27FC236}">
                <a16:creationId xmlns:a16="http://schemas.microsoft.com/office/drawing/2014/main" id="{F7A1C134-7AA3-41FC-B9AB-E0DCCC449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669" y="1430997"/>
            <a:ext cx="4285751" cy="3545840"/>
          </a:xfrm>
          <a:prstGeom prst="rect">
            <a:avLst/>
          </a:prstGeom>
          <a:effectLst>
            <a:softEdge rad="292100"/>
          </a:effectLst>
        </p:spPr>
      </p:pic>
    </p:spTree>
    <p:extLst>
      <p:ext uri="{BB962C8B-B14F-4D97-AF65-F5344CB8AC3E}">
        <p14:creationId xmlns:p14="http://schemas.microsoft.com/office/powerpoint/2010/main" val="139369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2ABA637A-BF3E-DFC4-2B12-2B46BAD2FE09}"/>
              </a:ext>
            </a:extLst>
          </p:cNvPr>
          <p:cNvGraphicFramePr>
            <a:graphicFrameLocks noChangeAspect="1"/>
          </p:cNvGraphicFramePr>
          <p:nvPr>
            <p:extLst>
              <p:ext uri="{D42A27DB-BD31-4B8C-83A1-F6EECF244321}">
                <p14:modId xmlns:p14="http://schemas.microsoft.com/office/powerpoint/2010/main" val="827320969"/>
              </p:ext>
            </p:extLst>
          </p:nvPr>
        </p:nvGraphicFramePr>
        <p:xfrm>
          <a:off x="0" y="0"/>
          <a:ext cx="12192000" cy="6857999"/>
        </p:xfrm>
        <a:graphic>
          <a:graphicData uri="http://schemas.openxmlformats.org/presentationml/2006/ole">
            <mc:AlternateContent xmlns:mc="http://schemas.openxmlformats.org/markup-compatibility/2006">
              <mc:Choice xmlns:v="urn:schemas-microsoft-com:vml" Requires="v">
                <p:oleObj name="Worksheet" r:id="rId2" imgW="11376837" imgH="7330314" progId="Excel.Sheet.12">
                  <p:embed/>
                </p:oleObj>
              </mc:Choice>
              <mc:Fallback>
                <p:oleObj name="Worksheet" r:id="rId2" imgW="11376837" imgH="7330314" progId="Excel.Sheet.12">
                  <p:embed/>
                  <p:pic>
                    <p:nvPicPr>
                      <p:cNvPr id="0" name=""/>
                      <p:cNvPicPr/>
                      <p:nvPr/>
                    </p:nvPicPr>
                    <p:blipFill>
                      <a:blip r:embed="rId3"/>
                      <a:stretch>
                        <a:fillRect/>
                      </a:stretch>
                    </p:blipFill>
                    <p:spPr>
                      <a:xfrm>
                        <a:off x="0" y="0"/>
                        <a:ext cx="12192000" cy="6857999"/>
                      </a:xfrm>
                      <a:prstGeom prst="rect">
                        <a:avLst/>
                      </a:prstGeom>
                    </p:spPr>
                  </p:pic>
                </p:oleObj>
              </mc:Fallback>
            </mc:AlternateContent>
          </a:graphicData>
        </a:graphic>
      </p:graphicFrame>
    </p:spTree>
    <p:extLst>
      <p:ext uri="{BB962C8B-B14F-4D97-AF65-F5344CB8AC3E}">
        <p14:creationId xmlns:p14="http://schemas.microsoft.com/office/powerpoint/2010/main" val="3201958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TECHNOLOGY USED</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199005" y="3628015"/>
            <a:ext cx="3115277" cy="2467023"/>
          </a:xfrm>
        </p:spPr>
        <p:txBody>
          <a:bodyPr/>
          <a:lstStyle/>
          <a:p>
            <a:pPr marL="0" indent="0" algn="ctr">
              <a:buNone/>
            </a:pPr>
            <a:r>
              <a:rPr lang="en-US" b="1" dirty="0">
                <a:solidFill>
                  <a:srgbClr val="7030A0"/>
                </a:solidFill>
              </a:rPr>
              <a:t>Frontend</a:t>
            </a:r>
          </a:p>
          <a:p>
            <a:pPr marL="0" indent="0" algn="ctr">
              <a:buNone/>
            </a:pPr>
            <a:endParaRPr lang="en-US" b="1" dirty="0"/>
          </a:p>
          <a:p>
            <a:pPr>
              <a:buFont typeface="Arial" panose="020B0604020202020204" pitchFamily="34" charset="0"/>
              <a:buChar char="•"/>
            </a:pPr>
            <a:r>
              <a:rPr lang="en-US" b="0" i="0" dirty="0">
                <a:effectLst/>
              </a:rPr>
              <a:t>HTML</a:t>
            </a:r>
            <a:endParaRPr lang="en-US" dirty="0"/>
          </a:p>
          <a:p>
            <a:pPr>
              <a:buFont typeface="Arial" panose="020B0604020202020204" pitchFamily="34" charset="0"/>
              <a:buChar char="•"/>
            </a:pPr>
            <a:r>
              <a:rPr lang="en-US" b="0" i="0" dirty="0">
                <a:effectLst/>
              </a:rPr>
              <a:t>CSS</a:t>
            </a:r>
            <a:endParaRPr lang="en-US" dirty="0"/>
          </a:p>
          <a:p>
            <a:pPr>
              <a:buFont typeface="Arial" panose="020B0604020202020204" pitchFamily="34" charset="0"/>
              <a:buChar char="•"/>
            </a:pPr>
            <a:r>
              <a:rPr lang="en-US" b="0" i="0" dirty="0">
                <a:effectLst/>
              </a:rPr>
              <a:t>JAVASCRIPT</a:t>
            </a:r>
            <a:endParaRPr lang="en-US" dirty="0"/>
          </a:p>
          <a:p>
            <a:pPr marL="0" indent="0">
              <a:buNone/>
            </a:pPr>
            <a:endParaRPr lang="en-US" b="1" dirty="0"/>
          </a:p>
        </p:txBody>
      </p:sp>
      <p:sp>
        <p:nvSpPr>
          <p:cNvPr id="8" name="Content Placeholder 2">
            <a:extLst>
              <a:ext uri="{FF2B5EF4-FFF2-40B4-BE49-F238E27FC236}">
                <a16:creationId xmlns:a16="http://schemas.microsoft.com/office/drawing/2014/main" id="{465C65BC-5115-418E-9313-41767982CBFC}"/>
              </a:ext>
            </a:extLst>
          </p:cNvPr>
          <p:cNvSpPr txBox="1">
            <a:spLocks/>
          </p:cNvSpPr>
          <p:nvPr/>
        </p:nvSpPr>
        <p:spPr bwMode="auto">
          <a:xfrm>
            <a:off x="4298384"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Backend</a:t>
            </a:r>
          </a:p>
          <a:p>
            <a:pPr marL="0" indent="0" algn="ctr">
              <a:buFont typeface="Arial" charset="0"/>
              <a:buNone/>
            </a:pPr>
            <a:endParaRPr lang="en-US" b="1" dirty="0"/>
          </a:p>
          <a:p>
            <a:pPr>
              <a:buFont typeface="Arial" panose="020B0604020202020204" pitchFamily="34" charset="0"/>
              <a:buChar char="•"/>
            </a:pPr>
            <a:r>
              <a:rPr lang="en-US" b="0" i="0" dirty="0">
                <a:effectLst/>
              </a:rPr>
              <a:t>NodeJS</a:t>
            </a:r>
            <a:endParaRPr lang="en-US" dirty="0"/>
          </a:p>
          <a:p>
            <a:pPr>
              <a:buFont typeface="Arial" panose="020B0604020202020204" pitchFamily="34" charset="0"/>
              <a:buChar char="•"/>
            </a:pPr>
            <a:r>
              <a:rPr lang="en-US" b="0" i="0" dirty="0">
                <a:effectLst/>
              </a:rPr>
              <a:t>Socket.io</a:t>
            </a:r>
            <a:endParaRPr lang="en-US" dirty="0"/>
          </a:p>
          <a:p>
            <a:pPr>
              <a:buFont typeface="Arial" panose="020B0604020202020204" pitchFamily="34" charset="0"/>
              <a:buChar char="•"/>
            </a:pPr>
            <a:r>
              <a:rPr lang="en-US" b="0" i="0" dirty="0">
                <a:effectLst/>
              </a:rPr>
              <a:t>Express.js</a:t>
            </a:r>
            <a:endParaRPr lang="en-US" dirty="0"/>
          </a:p>
          <a:p>
            <a:pPr marL="0" indent="0">
              <a:buFont typeface="Arial" charset="0"/>
              <a:buNone/>
            </a:pPr>
            <a:endParaRPr lang="en-US" b="1" dirty="0"/>
          </a:p>
        </p:txBody>
      </p:sp>
      <p:sp>
        <p:nvSpPr>
          <p:cNvPr id="9" name="Content Placeholder 2">
            <a:extLst>
              <a:ext uri="{FF2B5EF4-FFF2-40B4-BE49-F238E27FC236}">
                <a16:creationId xmlns:a16="http://schemas.microsoft.com/office/drawing/2014/main" id="{06ADDAEF-08A3-461D-AA13-8584BA0C1469}"/>
              </a:ext>
            </a:extLst>
          </p:cNvPr>
          <p:cNvSpPr txBox="1">
            <a:spLocks/>
          </p:cNvSpPr>
          <p:nvPr/>
        </p:nvSpPr>
        <p:spPr bwMode="auto">
          <a:xfrm>
            <a:off x="8537946"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Database</a:t>
            </a:r>
          </a:p>
          <a:p>
            <a:pPr marL="0" indent="0" algn="ctr">
              <a:buFont typeface="Arial" charset="0"/>
              <a:buNone/>
            </a:pPr>
            <a:endParaRPr lang="en-US" b="1" dirty="0"/>
          </a:p>
          <a:p>
            <a:pPr>
              <a:buFont typeface="Arial" panose="020B0604020202020204" pitchFamily="34" charset="0"/>
              <a:buChar char="•"/>
            </a:pPr>
            <a:r>
              <a:rPr lang="en-US" b="0" i="0" dirty="0">
                <a:effectLst/>
              </a:rPr>
              <a:t>MYSQL</a:t>
            </a:r>
            <a:endParaRPr lang="en-US" b="1" dirty="0"/>
          </a:p>
        </p:txBody>
      </p:sp>
      <p:pic>
        <p:nvPicPr>
          <p:cNvPr id="11" name="Picture 10">
            <a:extLst>
              <a:ext uri="{FF2B5EF4-FFF2-40B4-BE49-F238E27FC236}">
                <a16:creationId xmlns:a16="http://schemas.microsoft.com/office/drawing/2014/main" id="{809DD74A-9996-4C34-B44A-CF06BD495F79}"/>
              </a:ext>
            </a:extLst>
          </p:cNvPr>
          <p:cNvPicPr>
            <a:picLocks noChangeAspect="1"/>
          </p:cNvPicPr>
          <p:nvPr/>
        </p:nvPicPr>
        <p:blipFill>
          <a:blip r:embed="rId2"/>
          <a:stretch>
            <a:fillRect/>
          </a:stretch>
        </p:blipFill>
        <p:spPr>
          <a:xfrm>
            <a:off x="240872" y="1502900"/>
            <a:ext cx="2773633" cy="1660490"/>
          </a:xfrm>
          <a:prstGeom prst="rect">
            <a:avLst/>
          </a:prstGeom>
        </p:spPr>
      </p:pic>
      <p:pic>
        <p:nvPicPr>
          <p:cNvPr id="13" name="Picture 12">
            <a:extLst>
              <a:ext uri="{FF2B5EF4-FFF2-40B4-BE49-F238E27FC236}">
                <a16:creationId xmlns:a16="http://schemas.microsoft.com/office/drawing/2014/main" id="{88245852-23B8-4298-9D60-6220193DB8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7334" y="1738418"/>
            <a:ext cx="3312410" cy="1557595"/>
          </a:xfrm>
          <a:prstGeom prst="rect">
            <a:avLst/>
          </a:prstGeom>
        </p:spPr>
      </p:pic>
      <p:pic>
        <p:nvPicPr>
          <p:cNvPr id="15" name="Picture 14">
            <a:extLst>
              <a:ext uri="{FF2B5EF4-FFF2-40B4-BE49-F238E27FC236}">
                <a16:creationId xmlns:a16="http://schemas.microsoft.com/office/drawing/2014/main" id="{49FB44C7-29FD-4333-A34A-DDCF1C6C6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2007" y="1228590"/>
            <a:ext cx="2053213" cy="2321115"/>
          </a:xfrm>
          <a:prstGeom prst="rect">
            <a:avLst/>
          </a:prstGeom>
        </p:spPr>
      </p:pic>
      <p:sp>
        <p:nvSpPr>
          <p:cNvPr id="16" name="Rectangle 15">
            <a:extLst>
              <a:ext uri="{FF2B5EF4-FFF2-40B4-BE49-F238E27FC236}">
                <a16:creationId xmlns:a16="http://schemas.microsoft.com/office/drawing/2014/main" id="{B4C6BEBF-9A1B-45A5-95FC-220D83CD1712}"/>
              </a:ext>
            </a:extLst>
          </p:cNvPr>
          <p:cNvSpPr/>
          <p:nvPr/>
        </p:nvSpPr>
        <p:spPr>
          <a:xfrm>
            <a:off x="3614060"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B5F1DBA-80D7-4FE0-86A9-09EDDDB048E0}"/>
              </a:ext>
            </a:extLst>
          </p:cNvPr>
          <p:cNvSpPr/>
          <p:nvPr/>
        </p:nvSpPr>
        <p:spPr>
          <a:xfrm>
            <a:off x="8106739"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87103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073264" cy="3808217"/>
          </a:xfrm>
          <a:solidFill>
            <a:schemeClr val="accent2">
              <a:lumMod val="20000"/>
              <a:lumOff val="80000"/>
            </a:schemeClr>
          </a:solidFill>
        </p:spPr>
        <p:txBody>
          <a:bodyPr/>
          <a:lstStyle/>
          <a:p>
            <a:pPr marL="0" indent="0">
              <a:buNone/>
            </a:pPr>
            <a:r>
              <a:rPr lang="en-US" b="1" dirty="0">
                <a:solidFill>
                  <a:srgbClr val="7030A0"/>
                </a:solidFill>
              </a:rPr>
              <a:t>Existing Blood Donation Apps vs Our Project</a:t>
            </a:r>
          </a:p>
          <a:p>
            <a:pPr marL="0" indent="0">
              <a:buNone/>
            </a:pPr>
            <a:endParaRPr lang="en-US" b="1" dirty="0"/>
          </a:p>
          <a:p>
            <a:pPr>
              <a:buFont typeface="Arial" panose="020B0604020202020204" pitchFamily="34" charset="0"/>
              <a:buChar char="•"/>
            </a:pPr>
            <a:r>
              <a:rPr lang="en-US" dirty="0"/>
              <a:t>Existing apps: Limited features / slow updates </a:t>
            </a:r>
          </a:p>
          <a:p>
            <a:pPr>
              <a:buFont typeface="Arial" panose="020B0604020202020204" pitchFamily="34" charset="0"/>
              <a:buChar char="•"/>
            </a:pPr>
            <a:r>
              <a:rPr lang="en-US" dirty="0"/>
              <a:t>Our system: Real-time communication + email alerts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Font typeface="Arial" charset="0"/>
              <a:buNone/>
            </a:pPr>
            <a:r>
              <a:rPr lang="en-US" b="1" dirty="0">
                <a:solidFill>
                  <a:srgbClr val="7030A0"/>
                </a:solidFill>
              </a:rPr>
              <a:t>Traditional System vs Our Web App</a:t>
            </a:r>
          </a:p>
          <a:p>
            <a:pPr marL="0" indent="0">
              <a:buFont typeface="Arial" charset="0"/>
              <a:buNone/>
            </a:pPr>
            <a:endParaRPr lang="en-US" b="1" dirty="0"/>
          </a:p>
          <a:p>
            <a:pPr>
              <a:buFont typeface="Arial" panose="020B0604020202020204" pitchFamily="34" charset="0"/>
              <a:buChar char="•"/>
            </a:pPr>
            <a:r>
              <a:rPr lang="en-US" dirty="0"/>
              <a:t>Traditional: Phone calls / manual search </a:t>
            </a:r>
          </a:p>
          <a:p>
            <a:pPr>
              <a:buFont typeface="Arial" panose="020B0604020202020204" pitchFamily="34" charset="0"/>
              <a:buChar char="•"/>
            </a:pPr>
            <a:r>
              <a:rPr lang="en-US" dirty="0"/>
              <a:t>Our system: Fast online donor connection</a:t>
            </a:r>
          </a:p>
          <a:p>
            <a:endParaRPr lang="en-US" dirty="0"/>
          </a:p>
        </p:txBody>
      </p:sp>
    </p:spTree>
    <p:extLst>
      <p:ext uri="{BB962C8B-B14F-4D97-AF65-F5344CB8AC3E}">
        <p14:creationId xmlns:p14="http://schemas.microsoft.com/office/powerpoint/2010/main" val="336286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STUDY(CONT..)</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151688" cy="3808217"/>
          </a:xfrm>
          <a:solidFill>
            <a:schemeClr val="accent2">
              <a:lumMod val="20000"/>
              <a:lumOff val="80000"/>
            </a:schemeClr>
          </a:solidFill>
        </p:spPr>
        <p:txBody>
          <a:bodyPr/>
          <a:lstStyle/>
          <a:p>
            <a:pPr marL="0" indent="0">
              <a:buNone/>
            </a:pPr>
            <a:r>
              <a:rPr lang="en-US" b="1" dirty="0">
                <a:solidFill>
                  <a:srgbClr val="7030A0"/>
                </a:solidFill>
              </a:rPr>
              <a:t>Awareness System</a:t>
            </a:r>
          </a:p>
          <a:p>
            <a:pPr marL="0" indent="0">
              <a:buNone/>
            </a:pPr>
            <a:r>
              <a:rPr lang="en-US" b="1" dirty="0"/>
              <a:t>	</a:t>
            </a:r>
          </a:p>
          <a:p>
            <a:pPr>
              <a:buFont typeface="Arial" panose="020B0604020202020204" pitchFamily="34" charset="0"/>
              <a:buChar char="•"/>
            </a:pPr>
            <a:r>
              <a:rPr lang="en-US" dirty="0"/>
              <a:t>Traditional: Low awareness, offline campaigns </a:t>
            </a:r>
          </a:p>
          <a:p>
            <a:pPr>
              <a:buFont typeface="Arial" panose="020B0604020202020204" pitchFamily="34" charset="0"/>
              <a:buChar char="•"/>
            </a:pPr>
            <a:r>
              <a:rPr lang="en-US" dirty="0"/>
              <a:t>Our system: Easy digital access for everyone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None/>
            </a:pPr>
            <a:r>
              <a:rPr lang="en-US" b="1" dirty="0">
                <a:solidFill>
                  <a:srgbClr val="7030A0"/>
                </a:solidFill>
              </a:rPr>
              <a:t>Manual Records vs Database System</a:t>
            </a:r>
          </a:p>
          <a:p>
            <a:pPr marL="0" indent="0">
              <a:buNone/>
            </a:pPr>
            <a:endParaRPr lang="en-US" b="1" dirty="0"/>
          </a:p>
          <a:p>
            <a:pPr>
              <a:buFont typeface="Arial" panose="020B0604020202020204" pitchFamily="34" charset="0"/>
              <a:buChar char="•"/>
            </a:pPr>
            <a:r>
              <a:rPr lang="en-US" dirty="0"/>
              <a:t>Manual: Paper-based, error-prone </a:t>
            </a:r>
          </a:p>
          <a:p>
            <a:pPr>
              <a:buFont typeface="Arial" panose="020B0604020202020204" pitchFamily="34" charset="0"/>
              <a:buChar char="•"/>
            </a:pPr>
            <a:r>
              <a:rPr lang="en-US" dirty="0"/>
              <a:t>Our system: Structured MySQL database </a:t>
            </a:r>
          </a:p>
        </p:txBody>
      </p:sp>
    </p:spTree>
    <p:extLst>
      <p:ext uri="{BB962C8B-B14F-4D97-AF65-F5344CB8AC3E}">
        <p14:creationId xmlns:p14="http://schemas.microsoft.com/office/powerpoint/2010/main" val="1405663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F939-3D57-4739-97F7-CD8058C26725}"/>
              </a:ext>
            </a:extLst>
          </p:cNvPr>
          <p:cNvSpPr>
            <a:spLocks noGrp="1"/>
          </p:cNvSpPr>
          <p:nvPr>
            <p:ph type="title"/>
          </p:nvPr>
        </p:nvSpPr>
        <p:spPr/>
        <p:txBody>
          <a:bodyPr/>
          <a:lstStyle/>
          <a:p>
            <a:r>
              <a:rPr lang="en-US" sz="4000" dirty="0">
                <a:solidFill>
                  <a:srgbClr val="0070C0"/>
                </a:solidFill>
              </a:rPr>
              <a:t>CONCLUSION</a:t>
            </a:r>
          </a:p>
        </p:txBody>
      </p:sp>
      <p:sp>
        <p:nvSpPr>
          <p:cNvPr id="3" name="Content Placeholder 2">
            <a:extLst>
              <a:ext uri="{FF2B5EF4-FFF2-40B4-BE49-F238E27FC236}">
                <a16:creationId xmlns:a16="http://schemas.microsoft.com/office/drawing/2014/main" id="{E14A7C14-E788-4098-A2E8-101C570D99F1}"/>
              </a:ext>
            </a:extLst>
          </p:cNvPr>
          <p:cNvSpPr>
            <a:spLocks noGrp="1"/>
          </p:cNvSpPr>
          <p:nvPr>
            <p:ph sz="half" idx="2"/>
          </p:nvPr>
        </p:nvSpPr>
        <p:spPr>
          <a:xfrm>
            <a:off x="240872" y="1634728"/>
            <a:ext cx="6810624" cy="5223272"/>
          </a:xfrm>
        </p:spPr>
        <p:txBody>
          <a:bodyPr/>
          <a:lstStyle/>
          <a:p>
            <a:pPr marL="0" indent="0">
              <a:buNone/>
            </a:pPr>
            <a:r>
              <a:rPr lang="en-US" dirty="0"/>
              <a:t>So, this project aims to develop a fast and reliable blood donation web application to improve emergency blood access and reduce delays in critical situations. It will be developed over a 13-week timeline using compatible technologies. Overall, it provides an efficient and simple solution to improve blood availability and save lives.</a:t>
            </a:r>
          </a:p>
        </p:txBody>
      </p:sp>
      <p:pic>
        <p:nvPicPr>
          <p:cNvPr id="5" name="Picture 4">
            <a:extLst>
              <a:ext uri="{FF2B5EF4-FFF2-40B4-BE49-F238E27FC236}">
                <a16:creationId xmlns:a16="http://schemas.microsoft.com/office/drawing/2014/main" id="{420EC28C-57C7-456A-B4D2-FC79C2D79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0844" y="1175657"/>
            <a:ext cx="3858936" cy="5144756"/>
          </a:xfrm>
          <a:prstGeom prst="rect">
            <a:avLst/>
          </a:prstGeom>
        </p:spPr>
      </p:pic>
    </p:spTree>
    <p:extLst>
      <p:ext uri="{BB962C8B-B14F-4D97-AF65-F5344CB8AC3E}">
        <p14:creationId xmlns:p14="http://schemas.microsoft.com/office/powerpoint/2010/main" val="221553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7A4CE08-6B85-40EA-8242-014C28969D1A}"/>
              </a:ext>
            </a:extLst>
          </p:cNvPr>
          <p:cNvPicPr>
            <a:picLocks noChangeAspect="1"/>
          </p:cNvPicPr>
          <p:nvPr/>
        </p:nvPicPr>
        <p:blipFill>
          <a:blip r:embed="rId2"/>
          <a:stretch>
            <a:fillRect/>
          </a:stretch>
        </p:blipFill>
        <p:spPr>
          <a:xfrm>
            <a:off x="3009469" y="1747603"/>
            <a:ext cx="6173061" cy="3362794"/>
          </a:xfrm>
          <a:prstGeom prst="rect">
            <a:avLst/>
          </a:prstGeom>
        </p:spPr>
      </p:pic>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645</TotalTime>
  <Words>617</Words>
  <Application>Microsoft Office PowerPoint</Application>
  <PresentationFormat>Widescreen</PresentationFormat>
  <Paragraphs>123</Paragraphs>
  <Slides>15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0" baseType="lpstr">
      <vt:lpstr>Arial</vt:lpstr>
      <vt:lpstr>Calibri</vt:lpstr>
      <vt:lpstr>Franklin Gothic Demi</vt:lpstr>
      <vt:lpstr>IITR_PPT_Template</vt:lpstr>
      <vt:lpstr>Microsoft Excel Worksheet</vt:lpstr>
      <vt:lpstr>Project: Blood Donation Finder</vt:lpstr>
      <vt:lpstr>Table of Contents</vt:lpstr>
      <vt:lpstr>Project Overview: Blood Donation Finder</vt:lpstr>
      <vt:lpstr>PROBLEMS/CHALLENGES </vt:lpstr>
      <vt:lpstr>Literature Review</vt:lpstr>
      <vt:lpstr>GOAL and OBJECTIVES</vt:lpstr>
      <vt:lpstr>FEATURES</vt:lpstr>
      <vt:lpstr>METHODOLOGY</vt:lpstr>
      <vt:lpstr>FEASIBILITY</vt:lpstr>
      <vt:lpstr>PowerPoint Presentation</vt:lpstr>
      <vt:lpstr>TECHNOLOGY USED</vt:lpstr>
      <vt:lpstr>COMPARATIVE STUDY</vt:lpstr>
      <vt:lpstr>COMPARATIVE STUDY(CONT..)</vt:lpstr>
      <vt:lpstr>CONCLUSION</vt:lpstr>
      <vt:lpstr>PowerPoint Presentation</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Aryan  Mainalee</cp:lastModifiedBy>
  <cp:revision>89</cp:revision>
  <dcterms:created xsi:type="dcterms:W3CDTF">2015-07-18T13:17:54Z</dcterms:created>
  <dcterms:modified xsi:type="dcterms:W3CDTF">2026-05-05T04:09:42Z</dcterms:modified>
  <cp:version>v1</cp:version>
</cp:coreProperties>
</file>